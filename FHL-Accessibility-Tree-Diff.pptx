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mp3" ContentType="audio/mp3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Accessibility Tree Snapshot and Diff catches RNW accessibility regressions that visual review cannot see. During FHL, we built, tested, hardened, and demonstrated the complete tool.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Gallery builds look identical. Yet Item 3 in the broken build cannot receive keyboard focus. That invisible difference can block keyboard and screen reader users.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tool captures two Windows UI Automation trees, normalizes them, matches stable elements, classifies risky changes, and produces reviewable evidence. It is external and read-only.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workflow is three commands: capture before, capture after, then diff. A potential regression returns exit code one, making the result ready for continuous integration.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 is especially useful for Fabric migrations, native refactors, accessibility fixes, dependency upgrades, release validation, and pull requests where semantics may change without pixels changing.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Trustworthy results require bounded traversal, stable sibling matching, explicit incomplete captures, deterministic snapshots, privacy-safe properties, and hardened output. Fifteen tests cover the risky behavior.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Play the embedded narrated Gallery demonstration. It shows the healthy baseline, the visually identical regression, the five issues detected by the tool, and the CI-blocking exit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proves the value: one invisible Gallery change propagates to five FlatList examples. The tool catches all five and fails the quality gate.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working software: fifteen tests, zero build warnings, live Windows validation, and five real Gallery regressions detected with no RNW runtime changes.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impact is earlier discovery, faster diagnosis, stronger pull request evidence, safer framework evolution, and fewer accessibility regressions found by customers.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After merge, engineers find the tool under RNW Scripts Accessibility Diagnostics and run it through the existing Yarn workspace. The FHL branch is available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steps include a Focus Path Recorder, automated pull request reports, approved component baselines, an interactive explorer, rule plug-ins, and cross-release comparison.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Accessibility should not depend on noticing what cannot be seen. Capture, compare, catch, and block the regression before merge. Shift accessibility left. Thank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H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0078D4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0078D4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audio" Target="../media/media-1-1.mp3"/><Relationship Id="rId2" Type="http://schemas.microsoft.com/office/2007/relationships/media" Target="../media/media-1-1.mp3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audio" Target="../media/media-2-3.mp3"/><Relationship Id="rId4" Type="http://schemas.microsoft.com/office/2007/relationships/media" Target="../media/media-2-3.mp3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audio" Target="../media/media-3-2.mp3"/><Relationship Id="rId3" Type="http://schemas.microsoft.com/office/2007/relationships/media" Target="../media/media-3-2.mp3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audio" Target="../media/media-4-1.mp3"/><Relationship Id="rId2" Type="http://schemas.microsoft.com/office/2007/relationships/media" Target="../media/media-4-1.mp3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audio" Target="../media/media-5-1.mp3"/><Relationship Id="rId2" Type="http://schemas.microsoft.com/office/2007/relationships/media" Target="../media/media-5-1.mp3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audio" Target="../media/media-6-1.mp3"/><Relationship Id="rId2" Type="http://schemas.microsoft.com/office/2007/relationships/media" Target="../media/media-6-1.mp3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5" Type="http://schemas.openxmlformats.org/officeDocument/2006/relationships/hyperlink" Target="https://anuagragith.github.io/react-native-windows/demo.mp4" TargetMode="External"/><Relationship Id="rId1" Type="http://schemas.openxmlformats.org/officeDocument/2006/relationships/video" Target="../media/media-7-1.mp4"/><Relationship Id="rId2" Type="http://schemas.microsoft.com/office/2007/relationships/media" Target="../media/media-7-1.mp4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audio" Target="../media/media-8-4.mp3"/><Relationship Id="rId5" Type="http://schemas.microsoft.com/office/2007/relationships/media" Target="../media/media-8-4.mp3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audio" Target="../media/media-9-1.mp3"/><Relationship Id="rId2" Type="http://schemas.microsoft.com/office/2007/relationships/media" Target="../media/media-9-1.mp3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audio" Target="../media/media-10-1.mp3"/><Relationship Id="rId2" Type="http://schemas.microsoft.com/office/2007/relationships/media" Target="../media/media-10-1.mp3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uagragith/react-native-windows/tree/fhl/accessibility-tree-diff/packages/%40rnw-scripts/accessibility-diagnostics" TargetMode="External"/><Relationship Id="rId1" Type="http://schemas.openxmlformats.org/officeDocument/2006/relationships/image" Target="../media/image-11-1.png"/><Relationship Id="rId3" Type="http://schemas.openxmlformats.org/officeDocument/2006/relationships/audio" Target="../media/media-11-2.mp3"/><Relationship Id="rId4" Type="http://schemas.microsoft.com/office/2007/relationships/media" Target="../media/media-11-2.mp3"/><Relationship Id="rId5" Type="http://schemas.openxmlformats.org/officeDocument/2006/relationships/image" Target="../media/image-11-4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audio" Target="../media/media-12-1.mp3"/><Relationship Id="rId2" Type="http://schemas.microsoft.com/office/2007/relationships/media" Target="../media/media-12-1.mp3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anuagragith.github.io/react-native-windows/" TargetMode="External"/><Relationship Id="rId2" Type="http://schemas.openxmlformats.org/officeDocument/2006/relationships/audio" Target="../media/media-13-1.mp3"/><Relationship Id="rId3" Type="http://schemas.microsoft.com/office/2007/relationships/media" Target="../media/media-13-1.mp3"/><Relationship Id="rId4" Type="http://schemas.openxmlformats.org/officeDocument/2006/relationships/image" Target="../media/image-13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731520"/>
            <a:ext cx="4297680" cy="4297680"/>
          </a:xfrm>
          <a:prstGeom prst="ellipse">
            <a:avLst/>
          </a:prstGeom>
          <a:solidFill>
            <a:srgbClr val="00B7C3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784080" y="3840480"/>
            <a:ext cx="4389120" cy="4389120"/>
          </a:xfrm>
          <a:prstGeom prst="ellipse">
            <a:avLst/>
          </a:prstGeom>
          <a:solidFill>
            <a:srgbClr val="0078D4">
              <a:alpha val="2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731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B7C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FHL 2026 PROJECT SHOWCASE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1417320"/>
            <a:ext cx="78638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Catch the invisible</a:t>
            </a:r>
            <a:endParaRPr lang="en-US" sz="4900" dirty="0"/>
          </a:p>
          <a:p>
            <a:pPr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before it ships.</a:t>
            </a:r>
            <a:endParaRPr lang="en-US" sz="4900" dirty="0"/>
          </a:p>
        </p:txBody>
      </p:sp>
      <p:sp>
        <p:nvSpPr>
          <p:cNvPr id="6" name="Text 4"/>
          <p:cNvSpPr/>
          <p:nvPr/>
        </p:nvSpPr>
        <p:spPr>
          <a:xfrm>
            <a:off x="777240" y="37033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C7E6F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Accessibility Tree Snapshot &amp; Diff for React Native Windows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777240" y="4800600"/>
            <a:ext cx="4389120" cy="658368"/>
          </a:xfrm>
          <a:prstGeom prst="roundRect">
            <a:avLst>
              <a:gd name="adj" fmla="val 11111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500176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 Gallery · Real UIA · Real regression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58521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BDD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Built end-to-end during FHL: implementation, tests, hardening, live validation, and demo.</a:t>
            </a:r>
            <a:endParaRPr lang="en-US" sz="1300" dirty="0"/>
          </a:p>
        </p:txBody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1475720" y="164592"/>
            <a:ext cx="384048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4008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71A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Accessibility regressions are often invisible.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02920" y="1225296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6A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UI can look pixel-perfect while becoming unusable to keyboard and screen-reader users.</a:t>
            </a:r>
            <a:endParaRPr lang="en-US" sz="1500" dirty="0"/>
          </a:p>
        </p:txBody>
      </p:sp>
      <p:pic>
        <p:nvPicPr>
          <p:cNvPr id="6" name="Image 0" descr="C:\Users\anuagra\.copilot\session-state\0f63ea4f-a16b-4fa3-b141-785aec89b5e4\files\fhl-presentation\assets\gallery-healthy-annotat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874520"/>
            <a:ext cx="5212080" cy="4023360"/>
          </a:xfrm>
          <a:prstGeom prst="rect">
            <a:avLst/>
          </a:prstGeom>
        </p:spPr>
      </p:pic>
      <p:pic>
        <p:nvPicPr>
          <p:cNvPr id="7" name="Image 1" descr="C:\Users\anuagra\.copilot\session-state\0f63ea4f-a16b-4fa3-b141-785aec89b5e4\files\fhl-presentation\assets\gallery-broken-annotat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74520"/>
            <a:ext cx="5212080" cy="40233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22960" y="16916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7C10"/>
                </a:solidFill>
              </a:rPr>
              <a:t>HEALTHY BUILD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6583680" y="16916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13438"/>
                </a:solidFill>
              </a:rPr>
              <a:t>BROKEN BUILD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4343400" y="5806440"/>
            <a:ext cx="3474720" cy="475488"/>
          </a:xfrm>
          <a:prstGeom prst="roundRect">
            <a:avLst>
              <a:gd name="adj" fmla="val 11538"/>
            </a:avLst>
          </a:prstGeom>
          <a:solidFill>
            <a:srgbClr val="071A2B"/>
          </a:solidFill>
          <a:ln w="12700">
            <a:solidFill>
              <a:srgbClr val="071A2B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617720" y="594360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They look the same.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502920" y="65562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C879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FHL 2026 · Accessibility Tree Snapshot &amp; Diff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11201400" y="651052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900" dirty="0"/>
          </a:p>
        </p:txBody>
      </p:sp>
      <p:pic>
        <p:nvPicPr>
          <p:cNvPr id="5" name="Media 0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475720" y="164592"/>
            <a:ext cx="384048" cy="38404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0078D4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FHL PROJECT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4008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71A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before-and-after detector for what assistive technology sees.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02920" y="1225296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6A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Capture two Windows UI Automation trees, compare them deterministically, and fail when semantics regress.</a:t>
            </a:r>
            <a:endParaRPr lang="en-US" sz="1500" dirty="0"/>
          </a:p>
        </p:txBody>
      </p:sp>
      <p:pic>
        <p:nvPicPr>
          <p:cNvPr id="6" name="Image 0" descr="C:\Users\anuagra\.copilot\session-state\0f63ea4f-a16b-4fa3-b141-785aec89b5e4\files\fhl-presentation\assets\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91640"/>
            <a:ext cx="11155680" cy="41605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85800" y="5989320"/>
            <a:ext cx="10789920" cy="384048"/>
          </a:xfrm>
          <a:prstGeom prst="roundRect">
            <a:avLst>
              <a:gd name="adj" fmla="val 9524"/>
            </a:avLst>
          </a:prstGeom>
          <a:solidFill>
            <a:srgbClr val="EEF6FC"/>
          </a:solidFill>
          <a:ln w="12700">
            <a:solidFill>
              <a:srgbClr val="B8DDF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6099048"/>
            <a:ext cx="10332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8D4"/>
                </a:solidFill>
              </a:rPr>
              <a:t>Read-only external tool · No application instrumentation · No RNW runtime changes · Works with existing Windows apps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502920" y="65562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C879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FHL 2026 · Accessibility Tree Snapshot &amp; Diff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1201400" y="651052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900" dirty="0"/>
          </a:p>
        </p:txBody>
      </p:sp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1475720" y="164592"/>
            <a:ext cx="384048" cy="38404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0078D4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ENGINEERS USE IT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4008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71A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commands turn an accessibility assumption into evidence.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02920" y="1225296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6A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same workflow works locally, during code review, or as a CI quality gate.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874520"/>
            <a:ext cx="658368" cy="658368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05256" y="2020824"/>
            <a:ext cx="310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645920" y="185623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2033"/>
                </a:solidFill>
              </a:rPr>
              <a:t>Capture before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3703320" y="1801368"/>
            <a:ext cx="7406640" cy="822960"/>
          </a:xfrm>
          <a:prstGeom prst="roundRect">
            <a:avLst>
              <a:gd name="adj" fmla="val 4444"/>
            </a:avLst>
          </a:prstGeom>
          <a:solidFill>
            <a:srgbClr val="071A2B"/>
          </a:solidFill>
          <a:ln w="12700">
            <a:solidFill>
              <a:srgbClr val="071A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977640" y="203911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EE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rnw-a11y capture --process RNTesterApp-Fabric --output before.json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3291840"/>
            <a:ext cx="658368" cy="658368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05256" y="3438144"/>
            <a:ext cx="310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2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645920" y="327355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2033"/>
                </a:solidFill>
              </a:rPr>
              <a:t>Capture after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3703320" y="3218688"/>
            <a:ext cx="7406640" cy="822960"/>
          </a:xfrm>
          <a:prstGeom prst="roundRect">
            <a:avLst>
              <a:gd name="adj" fmla="val 4444"/>
            </a:avLst>
          </a:prstGeom>
          <a:solidFill>
            <a:srgbClr val="071A2B"/>
          </a:solidFill>
          <a:ln w="12700">
            <a:solidFill>
              <a:srgbClr val="071A2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977640" y="345643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EE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rnw-a11y capture --process RNTesterApp-Fabric --output after.json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31520" y="4709160"/>
            <a:ext cx="658368" cy="658368"/>
          </a:xfrm>
          <a:prstGeom prst="ellipse">
            <a:avLst/>
          </a:prstGeom>
          <a:solidFill>
            <a:srgbClr val="D13438"/>
          </a:solidFill>
          <a:ln w="12700">
            <a:solidFill>
              <a:srgbClr val="D1343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256" y="4855464"/>
            <a:ext cx="310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3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645920" y="469087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2033"/>
                </a:solidFill>
              </a:rPr>
              <a:t>Compare and gate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3703320" y="4636008"/>
            <a:ext cx="7406640" cy="822960"/>
          </a:xfrm>
          <a:prstGeom prst="roundRect">
            <a:avLst>
              <a:gd name="adj" fmla="val 4444"/>
            </a:avLst>
          </a:prstGeom>
          <a:solidFill>
            <a:srgbClr val="071A2B"/>
          </a:solidFill>
          <a:ln w="12700">
            <a:solidFill>
              <a:srgbClr val="071A2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977640" y="487375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EE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rnw-a11y diff before.json after.json --fail-on potential-regression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645920" y="5989320"/>
            <a:ext cx="9418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13438"/>
                </a:solidFill>
              </a:rPr>
              <a:t>Exit code 1 makes the result actionable—not another report engineers have to remember to read.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02920" y="65562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C879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FHL 2026 · Accessibility Tree Snapshot &amp; Diff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1201400" y="651052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900" dirty="0"/>
          </a:p>
        </p:txBody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1475720" y="164592"/>
            <a:ext cx="384048" cy="38404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0078D4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IT CATCHES ISSUES EARLY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4008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71A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High-risk changes where visual validation is not enough.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02920" y="1225296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6A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tool complements—not replaces—keyboard and screen-reader testing.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1874520"/>
            <a:ext cx="3474720" cy="1325880"/>
          </a:xfrm>
          <a:prstGeom prst="roundRect">
            <a:avLst>
              <a:gd name="adj" fmla="val 5517"/>
            </a:avLst>
          </a:prstGeom>
          <a:solidFill>
            <a:srgbClr val="F7F9FC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874520"/>
            <a:ext cx="73152" cy="132588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203911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Fabric migrations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" y="2441448"/>
            <a:ext cx="31089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E6A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Verify that roles, names, states, hierarchy, and focusability remain equivalent.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43400" y="1874520"/>
            <a:ext cx="3474720" cy="1325880"/>
          </a:xfrm>
          <a:prstGeom prst="roundRect">
            <a:avLst>
              <a:gd name="adj" fmla="val 5517"/>
            </a:avLst>
          </a:prstGeom>
          <a:solidFill>
            <a:srgbClr val="F7F9FC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43400" y="1874520"/>
            <a:ext cx="73152" cy="1325880"/>
          </a:xfrm>
          <a:prstGeom prst="rect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203911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Native component refactors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0" y="2441448"/>
            <a:ext cx="31089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E6A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Catch semantic changes caused by swapping controls or automation providers.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46720" y="1874520"/>
            <a:ext cx="3474720" cy="1325880"/>
          </a:xfrm>
          <a:prstGeom prst="roundRect">
            <a:avLst>
              <a:gd name="adj" fmla="val 5517"/>
            </a:avLst>
          </a:prstGeom>
          <a:solidFill>
            <a:srgbClr val="F7F9FC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46720" y="1874520"/>
            <a:ext cx="73152" cy="1325880"/>
          </a:xfrm>
          <a:prstGeom prst="rect">
            <a:avLst/>
          </a:prstGeom>
          <a:solidFill>
            <a:srgbClr val="107C10"/>
          </a:solidFill>
          <a:ln w="12700">
            <a:solidFill>
              <a:srgbClr val="107C1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75320" y="203911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Accessibility bug fixes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275320" y="2441448"/>
            <a:ext cx="31089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E6A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Prove the intended tree change and expose accidental collateral regressions.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3520440"/>
            <a:ext cx="3474720" cy="1325880"/>
          </a:xfrm>
          <a:prstGeom prst="roundRect">
            <a:avLst>
              <a:gd name="adj" fmla="val 5517"/>
            </a:avLst>
          </a:prstGeom>
          <a:solidFill>
            <a:srgbClr val="F7F9FC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520440"/>
            <a:ext cx="73152" cy="1325880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368503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Dependency upgrades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68680" y="4087368"/>
            <a:ext cx="31089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E6A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Compare RNW, React Native, or Windows SDK versions before broad rollout.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343400" y="3520440"/>
            <a:ext cx="3474720" cy="1325880"/>
          </a:xfrm>
          <a:prstGeom prst="roundRect">
            <a:avLst>
              <a:gd name="adj" fmla="val 5517"/>
            </a:avLst>
          </a:prstGeom>
          <a:solidFill>
            <a:srgbClr val="F7F9FC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343400" y="3520440"/>
            <a:ext cx="73152" cy="1325880"/>
          </a:xfrm>
          <a:prstGeom prst="rect">
            <a:avLst/>
          </a:prstGeom>
          <a:solidFill>
            <a:srgbClr val="D13438"/>
          </a:solidFill>
          <a:ln w="12700">
            <a:solidFill>
              <a:srgbClr val="D1343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0" y="368503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Release validation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572000" y="4087368"/>
            <a:ext cx="31089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E6A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Create repeatable semantic evidence across release branches and builds.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046720" y="3520440"/>
            <a:ext cx="3474720" cy="1325880"/>
          </a:xfrm>
          <a:prstGeom prst="roundRect">
            <a:avLst>
              <a:gd name="adj" fmla="val 5517"/>
            </a:avLst>
          </a:prstGeom>
          <a:solidFill>
            <a:srgbClr val="F7F9FC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046720" y="3520440"/>
            <a:ext cx="73152" cy="132588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75320" y="368503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 quality gates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275320" y="4087368"/>
            <a:ext cx="31089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E6A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Fail automatically when an interactive control disappears or loses focusability.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1371600" y="5257800"/>
            <a:ext cx="9464040" cy="822960"/>
          </a:xfrm>
          <a:prstGeom prst="roundRect">
            <a:avLst>
              <a:gd name="adj" fmla="val 8889"/>
            </a:avLst>
          </a:prstGeom>
          <a:solidFill>
            <a:srgbClr val="071A2B"/>
          </a:solidFill>
          <a:ln w="12700">
            <a:solidFill>
              <a:srgbClr val="071A2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737360" y="5504688"/>
            <a:ext cx="8732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Best moment to find an accessibility regression: before it becomes a manual test failure—or a customer bug.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502920" y="65562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C879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FHL 2026 · Accessibility Tree Snapshot &amp; Diff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1201400" y="651052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900" dirty="0"/>
          </a:p>
        </p:txBody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1475720" y="164592"/>
            <a:ext cx="384048" cy="38404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0078D4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TECHNICAL DEPTH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4008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71A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Designed for trustworthy diffs—not just tree dumps.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02920" y="1225296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6A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implementation was hardened through repeated bug-focused review and live Windows validation.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3474720" cy="1234440"/>
          </a:xfrm>
          <a:prstGeom prst="roundRect">
            <a:avLst>
              <a:gd name="adj" fmla="val 5926"/>
            </a:avLst>
          </a:prstGeom>
          <a:solidFill>
            <a:srgbClr val="F7F9FC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828800"/>
            <a:ext cx="73152" cy="123444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199339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Bounded incremental capture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" y="2395728"/>
            <a:ext cx="31089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E6A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TreeWalker traversal applies depth and node limits before requesting more descendants.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43400" y="1828800"/>
            <a:ext cx="3474720" cy="1234440"/>
          </a:xfrm>
          <a:prstGeom prst="roundRect">
            <a:avLst>
              <a:gd name="adj" fmla="val 5926"/>
            </a:avLst>
          </a:prstGeom>
          <a:solidFill>
            <a:srgbClr val="F7F9FC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43400" y="1828800"/>
            <a:ext cx="73152" cy="1234440"/>
          </a:xfrm>
          <a:prstGeom prst="rect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199339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Stable sibling matching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0" y="2395728"/>
            <a:ext cx="31089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E6A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Automation IDs, stable characteristics, and bounded sequence alignment prevent cascade noise.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46720" y="1828800"/>
            <a:ext cx="3474720" cy="1234440"/>
          </a:xfrm>
          <a:prstGeom prst="roundRect">
            <a:avLst>
              <a:gd name="adj" fmla="val 5926"/>
            </a:avLst>
          </a:prstGeom>
          <a:solidFill>
            <a:srgbClr val="F7F9FC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46720" y="1828800"/>
            <a:ext cx="73152" cy="1234440"/>
          </a:xfrm>
          <a:prstGeom prst="rect">
            <a:avLst/>
          </a:prstGeom>
          <a:solidFill>
            <a:srgbClr val="D13438"/>
          </a:solidFill>
          <a:ln w="12700">
            <a:solidFill>
              <a:srgbClr val="D1343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75320" y="199339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Incomplete-capture safety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275320" y="2395728"/>
            <a:ext cx="31089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E6A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Transient UIA failures are retained as explicit incomplete snapshots instead of false clean results.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3383280"/>
            <a:ext cx="3474720" cy="1234440"/>
          </a:xfrm>
          <a:prstGeom prst="roundRect">
            <a:avLst>
              <a:gd name="adj" fmla="val 5926"/>
            </a:avLst>
          </a:prstGeom>
          <a:solidFill>
            <a:srgbClr val="F7F9FC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383280"/>
            <a:ext cx="73152" cy="1234440"/>
          </a:xfrm>
          <a:prstGeom prst="rect">
            <a:avLst/>
          </a:prstGeom>
          <a:solidFill>
            <a:srgbClr val="107C10"/>
          </a:solidFill>
          <a:ln w="12700">
            <a:solidFill>
              <a:srgbClr val="107C1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35478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Privacy by design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68680" y="3950208"/>
            <a:ext cx="31089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E6A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text-field values, runtime IDs, exact bounds, or keyboard-focus state in comparisons.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343400" y="3383280"/>
            <a:ext cx="3474720" cy="1234440"/>
          </a:xfrm>
          <a:prstGeom prst="roundRect">
            <a:avLst>
              <a:gd name="adj" fmla="val 5926"/>
            </a:avLst>
          </a:prstGeom>
          <a:solidFill>
            <a:srgbClr val="F7F9FC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343400" y="3383280"/>
            <a:ext cx="73152" cy="1234440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0" y="35478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Deterministic schema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572000" y="3950208"/>
            <a:ext cx="31089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E6A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Versioned JSON, complete validation, and stable ordering make results reviewable and testable.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046720" y="3383280"/>
            <a:ext cx="3474720" cy="1234440"/>
          </a:xfrm>
          <a:prstGeom prst="roundRect">
            <a:avLst>
              <a:gd name="adj" fmla="val 5926"/>
            </a:avLst>
          </a:prstGeom>
          <a:solidFill>
            <a:srgbClr val="F7F9FC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046720" y="3383280"/>
            <a:ext cx="73152" cy="123444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75320" y="35478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Hardened output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275320" y="3950208"/>
            <a:ext cx="31089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E6A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Strict CLI enums and terminal-control sanitization protect console and Markdown reports.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1005840" y="5257800"/>
            <a:ext cx="10149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71A2B"/>
                </a:solidFill>
              </a:rPr>
              <a:t>15 tests · warning-free Release build · live capture/diff verified · zero RNW runtime files changed</a:t>
            </a:r>
            <a:endParaRPr lang="en-US" sz="1900" dirty="0"/>
          </a:p>
        </p:txBody>
      </p:sp>
      <p:sp>
        <p:nvSpPr>
          <p:cNvPr id="31" name="Text 29"/>
          <p:cNvSpPr/>
          <p:nvPr/>
        </p:nvSpPr>
        <p:spPr>
          <a:xfrm>
            <a:off x="502920" y="65562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C879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FHL 2026 · Accessibility Tree Snapshot &amp; Diff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1201400" y="651052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900" dirty="0"/>
          </a:p>
        </p:txBody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1475720" y="164592"/>
            <a:ext cx="384048" cy="38404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0078D4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WORKING DEMO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4008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71A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real regression in the React Native Gallery.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02920" y="1225296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6A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Play the embedded video or use the standalone link below.</a:t>
            </a:r>
            <a:endParaRPr lang="en-US" sz="1500" dirty="0"/>
          </a:p>
        </p:txBody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640080" y="1737360"/>
            <a:ext cx="7955280" cy="44805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915400" y="1874520"/>
            <a:ext cx="2606040" cy="2606040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</p:sp>
      <p:pic>
        <p:nvPicPr>
          <p:cNvPr id="8" name="Image 0" descr="C:\Users\anuagra\.copilot\session-state\0f63ea4f-a16b-4fa3-b141-785aec89b5e4\files\fhl-presentation\assets\video-q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9720" y="2148840"/>
            <a:ext cx="2057400" cy="20574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961120" y="4709160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2033"/>
                </a:solidFill>
              </a:rPr>
              <a:t>Open demo video</a:t>
            </a:r>
            <a:endParaRPr lang="en-US" sz="1500" dirty="0"/>
          </a:p>
        </p:txBody>
      </p:sp>
      <p:sp>
        <p:nvSpPr>
          <p:cNvPr id="10" name="Text 6">
            <a:hlinkClick r:id="rId5" tooltip=""/>
          </p:cNvPr>
          <p:cNvSpPr/>
          <p:nvPr/>
        </p:nvSpPr>
        <p:spPr>
          <a:xfrm>
            <a:off x="8961120" y="507492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u="sng" dirty="0">
                <a:solidFill>
                  <a:srgbClr val="0078D4"/>
                </a:solidFill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https://anuagragith.github.io/react-native-windows/demo.mp4</a:t>
            </a:r>
            <a:endParaRPr lang="en-US" sz="850" dirty="0"/>
          </a:p>
        </p:txBody>
      </p:sp>
      <p:sp>
        <p:nvSpPr>
          <p:cNvPr id="11" name="Text 7"/>
          <p:cNvSpPr/>
          <p:nvPr/>
        </p:nvSpPr>
        <p:spPr>
          <a:xfrm>
            <a:off x="502920" y="65562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C879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FHL 2026 · Accessibility Tree Snapshot &amp; Diff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11201400" y="651052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0078D4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THE DEMO PROVES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4008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71A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screenshot stays the same. The semantics do not.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02920" y="1225296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6A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shared renderer caused five invisible keyboard regressions across the Gallery.</a:t>
            </a:r>
            <a:endParaRPr lang="en-US" sz="1500" dirty="0"/>
          </a:p>
        </p:txBody>
      </p:sp>
      <p:pic>
        <p:nvPicPr>
          <p:cNvPr id="6" name="Image 0" descr="C:\Users\anuagra\.copilot\session-state\0f63ea4f-a16b-4fa3-b141-785aec89b5e4\files\fhl-presentation\assets\gallery-healthy-annotat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3703320" cy="2880360"/>
          </a:xfrm>
          <a:prstGeom prst="rect">
            <a:avLst/>
          </a:prstGeom>
        </p:spPr>
      </p:pic>
      <p:pic>
        <p:nvPicPr>
          <p:cNvPr id="7" name="Image 1" descr="C:\Users\anuagra\.copilot\session-state\0f63ea4f-a16b-4fa3-b141-785aec89b5e4\files\fhl-presentation\assets\gallery-broken-annotat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783080"/>
            <a:ext cx="3703320" cy="2880360"/>
          </a:xfrm>
          <a:prstGeom prst="rect">
            <a:avLst/>
          </a:prstGeom>
        </p:spPr>
      </p:pic>
      <p:pic>
        <p:nvPicPr>
          <p:cNvPr id="8" name="Image 2" descr="C:\Users\anuagra\.copilot\session-state\0f63ea4f-a16b-4fa3-b141-785aec89b5e4\files\fhl-presentation\assets\regression-repor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3880" y="1783080"/>
            <a:ext cx="3474720" cy="288036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731520" y="48006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7C10"/>
                </a:solidFill>
              </a:rPr>
              <a:t>1 · Healthy baseline</a:t>
            </a:r>
            <a:endParaRPr lang="en-US" sz="1500" dirty="0"/>
          </a:p>
        </p:txBody>
      </p:sp>
      <p:sp>
        <p:nvSpPr>
          <p:cNvPr id="10" name="Text 5"/>
          <p:cNvSpPr/>
          <p:nvPr/>
        </p:nvSpPr>
        <p:spPr>
          <a:xfrm>
            <a:off x="4572000" y="48006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13438"/>
                </a:solidFill>
              </a:rPr>
              <a:t>2 · Visually identical regression</a:t>
            </a:r>
            <a:endParaRPr lang="en-US" sz="1500" dirty="0"/>
          </a:p>
        </p:txBody>
      </p:sp>
      <p:sp>
        <p:nvSpPr>
          <p:cNvPr id="11" name="Text 6"/>
          <p:cNvSpPr/>
          <p:nvPr/>
        </p:nvSpPr>
        <p:spPr>
          <a:xfrm>
            <a:off x="8366760" y="48006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78D4"/>
                </a:solidFill>
              </a:rPr>
              <a:t>3 · Five issues caught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960120" y="5394960"/>
            <a:ext cx="10241280" cy="777240"/>
          </a:xfrm>
          <a:prstGeom prst="roundRect">
            <a:avLst>
              <a:gd name="adj" fmla="val 5882"/>
            </a:avLst>
          </a:prstGeom>
          <a:solidFill>
            <a:srgbClr val="071A2B"/>
          </a:solidFill>
          <a:ln w="12700">
            <a:solidFill>
              <a:srgbClr val="071A2B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1234440" y="5641848"/>
            <a:ext cx="9692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Detected: isKeyboardFocusable  true → false  ·  Classified: PotentialRegression  ·  Gate: exit code 1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502920" y="65562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C879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FHL 2026 · Accessibility Tree Snapshot &amp; Diff</a:t>
            </a:r>
            <a:endParaRPr lang="en-US" sz="800" dirty="0"/>
          </a:p>
        </p:txBody>
      </p:sp>
      <p:sp>
        <p:nvSpPr>
          <p:cNvPr id="15" name="Text 10"/>
          <p:cNvSpPr/>
          <p:nvPr/>
        </p:nvSpPr>
        <p:spPr>
          <a:xfrm>
            <a:off x="11201400" y="651052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</a:t>
            </a:r>
            <a:endParaRPr lang="en-US" sz="900" dirty="0"/>
          </a:p>
        </p:txBody>
      </p:sp>
      <p:pic>
        <p:nvPicPr>
          <p:cNvPr id="6" name="Media 0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11475720" y="164592"/>
            <a:ext cx="384048" cy="38404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0078D4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MEASURED OUTCOME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4008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71A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FHL idea to release-ready implementation.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02920" y="1225296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6A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project is not a mockup: the complete capture, diff, reporting, and gate workflow works today.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58368" y="1874520"/>
            <a:ext cx="2514600" cy="2011680"/>
          </a:xfrm>
          <a:prstGeom prst="roundRect">
            <a:avLst>
              <a:gd name="adj" fmla="val 2727"/>
            </a:avLst>
          </a:prstGeom>
          <a:solidFill>
            <a:srgbClr val="EEF6FC"/>
          </a:solidFill>
          <a:ln w="12700">
            <a:solidFill>
              <a:srgbClr val="B8DD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21488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300" b="1" dirty="0">
                <a:solidFill>
                  <a:srgbClr val="0078D4"/>
                </a:solidFill>
              </a:rPr>
              <a:t>15</a:t>
            </a:r>
            <a:endParaRPr lang="en-US" sz="4300" dirty="0"/>
          </a:p>
        </p:txBody>
      </p:sp>
      <p:sp>
        <p:nvSpPr>
          <p:cNvPr id="8" name="Text 6"/>
          <p:cNvSpPr/>
          <p:nvPr/>
        </p:nvSpPr>
        <p:spPr>
          <a:xfrm>
            <a:off x="886968" y="3127248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033"/>
                </a:solidFill>
              </a:rPr>
              <a:t>automated tests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538728" y="1874520"/>
            <a:ext cx="2514600" cy="2011680"/>
          </a:xfrm>
          <a:prstGeom prst="roundRect">
            <a:avLst>
              <a:gd name="adj" fmla="val 2727"/>
            </a:avLst>
          </a:prstGeom>
          <a:solidFill>
            <a:srgbClr val="EEF6FC"/>
          </a:solidFill>
          <a:ln w="12700">
            <a:solidFill>
              <a:srgbClr val="B8DDF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21608" y="21488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300" b="1" dirty="0">
                <a:solidFill>
                  <a:srgbClr val="0078D4"/>
                </a:solidFill>
              </a:rPr>
              <a:t>0</a:t>
            </a:r>
            <a:endParaRPr lang="en-US" sz="4300" dirty="0"/>
          </a:p>
        </p:txBody>
      </p:sp>
      <p:sp>
        <p:nvSpPr>
          <p:cNvPr id="11" name="Text 9"/>
          <p:cNvSpPr/>
          <p:nvPr/>
        </p:nvSpPr>
        <p:spPr>
          <a:xfrm>
            <a:off x="3767328" y="3127248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033"/>
                </a:solidFill>
              </a:rPr>
              <a:t>build warnings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19088" y="1874520"/>
            <a:ext cx="2514600" cy="2011680"/>
          </a:xfrm>
          <a:prstGeom prst="roundRect">
            <a:avLst>
              <a:gd name="adj" fmla="val 2727"/>
            </a:avLst>
          </a:prstGeom>
          <a:solidFill>
            <a:srgbClr val="FFF1F1"/>
          </a:solidFill>
          <a:ln w="12700">
            <a:solidFill>
              <a:srgbClr val="F3B2B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01968" y="21488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300" b="1" dirty="0">
                <a:solidFill>
                  <a:srgbClr val="D13438"/>
                </a:solidFill>
              </a:rPr>
              <a:t>5</a:t>
            </a:r>
            <a:endParaRPr lang="en-US" sz="4300" dirty="0"/>
          </a:p>
        </p:txBody>
      </p:sp>
      <p:sp>
        <p:nvSpPr>
          <p:cNvPr id="14" name="Text 12"/>
          <p:cNvSpPr/>
          <p:nvPr/>
        </p:nvSpPr>
        <p:spPr>
          <a:xfrm>
            <a:off x="6647688" y="3127248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033"/>
                </a:solidFill>
              </a:rPr>
              <a:t>Gallery regressions caught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299448" y="1874520"/>
            <a:ext cx="2514600" cy="2011680"/>
          </a:xfrm>
          <a:prstGeom prst="roundRect">
            <a:avLst>
              <a:gd name="adj" fmla="val 2727"/>
            </a:avLst>
          </a:prstGeom>
          <a:solidFill>
            <a:srgbClr val="EEF6FC"/>
          </a:solidFill>
          <a:ln w="12700">
            <a:solidFill>
              <a:srgbClr val="B8DDF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482328" y="21488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300" b="1" dirty="0">
                <a:solidFill>
                  <a:srgbClr val="0078D4"/>
                </a:solidFill>
              </a:rPr>
              <a:t>1</a:t>
            </a:r>
            <a:endParaRPr lang="en-US" sz="4300" dirty="0"/>
          </a:p>
        </p:txBody>
      </p:sp>
      <p:sp>
        <p:nvSpPr>
          <p:cNvPr id="17" name="Text 15"/>
          <p:cNvSpPr/>
          <p:nvPr/>
        </p:nvSpPr>
        <p:spPr>
          <a:xfrm>
            <a:off x="9528048" y="3127248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033"/>
                </a:solidFill>
              </a:rPr>
              <a:t>CI-ready failing exit code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77240" y="4434840"/>
            <a:ext cx="3474720" cy="1234440"/>
          </a:xfrm>
          <a:prstGeom prst="roundRect">
            <a:avLst>
              <a:gd name="adj" fmla="val 5926"/>
            </a:avLst>
          </a:prstGeom>
          <a:solidFill>
            <a:srgbClr val="F7F9FC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" y="4434840"/>
            <a:ext cx="73152" cy="1234440"/>
          </a:xfrm>
          <a:prstGeom prst="rect">
            <a:avLst/>
          </a:prstGeom>
          <a:solidFill>
            <a:srgbClr val="107C10"/>
          </a:solidFill>
          <a:ln w="12700">
            <a:solidFill>
              <a:srgbClr val="107C1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5840" y="459943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Low regression risk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005840" y="5001768"/>
            <a:ext cx="31089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E6A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Standalone, read-only package. No changes to rendering, focus, accessibility providers, or application runtime.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370832" y="4434840"/>
            <a:ext cx="3474720" cy="1234440"/>
          </a:xfrm>
          <a:prstGeom prst="roundRect">
            <a:avLst>
              <a:gd name="adj" fmla="val 5926"/>
            </a:avLst>
          </a:prstGeom>
          <a:solidFill>
            <a:srgbClr val="F7F9FC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370832" y="4434840"/>
            <a:ext cx="73152" cy="123444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99432" y="459943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Immediately useful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599432" y="5001768"/>
            <a:ext cx="31089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E6A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Works with Gallery, RNTester, Playground, packaged Windows apps, and non-RNW desktop applications.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7973568" y="4434840"/>
            <a:ext cx="3474720" cy="1234440"/>
          </a:xfrm>
          <a:prstGeom prst="roundRect">
            <a:avLst>
              <a:gd name="adj" fmla="val 5926"/>
            </a:avLst>
          </a:prstGeom>
          <a:solidFill>
            <a:srgbClr val="F7F9FC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73568" y="4434840"/>
            <a:ext cx="73152" cy="1234440"/>
          </a:xfrm>
          <a:prstGeom prst="rect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02168" y="459943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Built to extend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202168" y="5001768"/>
            <a:ext cx="31089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E6A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capture model and target selector are reusable foundations for a Focus Path Recorder.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02920" y="65562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C879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FHL 2026 · Accessibility Tree Snapshot &amp; Diff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1201400" y="651052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</a:t>
            </a:r>
            <a:endParaRPr lang="en-US" sz="900" dirty="0"/>
          </a:p>
        </p:txBody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1475720" y="164592"/>
            <a:ext cx="384048" cy="38404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0078D4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OVERALL IMPACT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4008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71A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Shift accessibility from late manual discovery to normal engineering review.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02920" y="1225296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6A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goal is not fewer accessibility tests—it is fewer surprises when those tests run.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1828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13438"/>
                </a:solidFill>
              </a:rPr>
              <a:t>TODAY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0" y="1828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7C10"/>
                </a:solidFill>
              </a:rPr>
              <a:t>WITH THIS PROJECT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22960" y="2331720"/>
            <a:ext cx="310896" cy="310896"/>
          </a:xfrm>
          <a:prstGeom prst="ellipse">
            <a:avLst/>
          </a:prstGeom>
          <a:solidFill>
            <a:srgbClr val="D13438"/>
          </a:solidFill>
          <a:ln w="12700">
            <a:solidFill>
              <a:srgbClr val="D1343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53312" y="231343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72033"/>
                </a:solidFill>
              </a:rPr>
              <a:t>Visual review passes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978408" y="2642616"/>
            <a:ext cx="0" cy="493776"/>
          </a:xfrm>
          <a:prstGeom prst="line">
            <a:avLst/>
          </a:prstGeom>
          <a:noFill/>
          <a:ln w="25400">
            <a:solidFill>
              <a:srgbClr val="F3B2B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136392"/>
            <a:ext cx="310896" cy="310896"/>
          </a:xfrm>
          <a:prstGeom prst="ellipse">
            <a:avLst/>
          </a:prstGeom>
          <a:solidFill>
            <a:srgbClr val="D13438"/>
          </a:solidFill>
          <a:ln w="12700">
            <a:solidFill>
              <a:srgbClr val="D1343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353312" y="311810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72033"/>
                </a:solidFill>
              </a:rPr>
              <a:t>Manual Narrator test happens late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978408" y="3447288"/>
            <a:ext cx="0" cy="493776"/>
          </a:xfrm>
          <a:prstGeom prst="line">
            <a:avLst/>
          </a:prstGeom>
          <a:noFill/>
          <a:ln w="25400">
            <a:solidFill>
              <a:srgbClr val="F3B2B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3941064"/>
            <a:ext cx="310896" cy="310896"/>
          </a:xfrm>
          <a:prstGeom prst="ellipse">
            <a:avLst/>
          </a:prstGeom>
          <a:solidFill>
            <a:srgbClr val="D13438"/>
          </a:solidFill>
          <a:ln w="12700">
            <a:solidFill>
              <a:srgbClr val="D1343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53312" y="392277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72033"/>
                </a:solidFill>
              </a:rPr>
              <a:t>Regression becomes a bug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978408" y="4251960"/>
            <a:ext cx="0" cy="493776"/>
          </a:xfrm>
          <a:prstGeom prst="line">
            <a:avLst/>
          </a:prstGeom>
          <a:noFill/>
          <a:ln w="25400">
            <a:solidFill>
              <a:srgbClr val="F3B2B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4745736"/>
            <a:ext cx="310896" cy="310896"/>
          </a:xfrm>
          <a:prstGeom prst="ellipse">
            <a:avLst/>
          </a:prstGeom>
          <a:solidFill>
            <a:srgbClr val="D13438"/>
          </a:solidFill>
          <a:ln w="12700">
            <a:solidFill>
              <a:srgbClr val="D1343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53312" y="472744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72033"/>
                </a:solidFill>
              </a:rPr>
              <a:t>Engineer reconstructs what changed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6446520" y="2331720"/>
            <a:ext cx="310896" cy="310896"/>
          </a:xfrm>
          <a:prstGeom prst="ellipse">
            <a:avLst/>
          </a:prstGeom>
          <a:solidFill>
            <a:srgbClr val="107C10"/>
          </a:solidFill>
          <a:ln w="12700">
            <a:solidFill>
              <a:srgbClr val="107C1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76872" y="231343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72033"/>
                </a:solidFill>
              </a:rPr>
              <a:t>Capture baseline with the PR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601968" y="2642616"/>
            <a:ext cx="0" cy="493776"/>
          </a:xfrm>
          <a:prstGeom prst="line">
            <a:avLst/>
          </a:prstGeom>
          <a:noFill/>
          <a:ln w="25400">
            <a:solidFill>
              <a:srgbClr val="A7D8A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46520" y="3136392"/>
            <a:ext cx="310896" cy="310896"/>
          </a:xfrm>
          <a:prstGeom prst="ellipse">
            <a:avLst/>
          </a:prstGeom>
          <a:solidFill>
            <a:srgbClr val="107C10"/>
          </a:solidFill>
          <a:ln w="12700">
            <a:solidFill>
              <a:srgbClr val="107C1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976872" y="311810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72033"/>
                </a:solidFill>
              </a:rPr>
              <a:t>Diff exposes semantic change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6601968" y="3447288"/>
            <a:ext cx="0" cy="493776"/>
          </a:xfrm>
          <a:prstGeom prst="line">
            <a:avLst/>
          </a:prstGeom>
          <a:noFill/>
          <a:ln w="25400">
            <a:solidFill>
              <a:srgbClr val="A7D8A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46520" y="3941064"/>
            <a:ext cx="310896" cy="310896"/>
          </a:xfrm>
          <a:prstGeom prst="ellipse">
            <a:avLst/>
          </a:prstGeom>
          <a:solidFill>
            <a:srgbClr val="107C10"/>
          </a:solidFill>
          <a:ln w="12700">
            <a:solidFill>
              <a:srgbClr val="107C1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976872" y="392277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72033"/>
                </a:solidFill>
              </a:rPr>
              <a:t>CI blocks risky regression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6601968" y="4251960"/>
            <a:ext cx="0" cy="493776"/>
          </a:xfrm>
          <a:prstGeom prst="line">
            <a:avLst/>
          </a:prstGeom>
          <a:noFill/>
          <a:ln w="25400">
            <a:solidFill>
              <a:srgbClr val="A7D8A7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46520" y="4745736"/>
            <a:ext cx="310896" cy="310896"/>
          </a:xfrm>
          <a:prstGeom prst="ellipse">
            <a:avLst/>
          </a:prstGeom>
          <a:solidFill>
            <a:srgbClr val="107C10"/>
          </a:solidFill>
          <a:ln w="12700">
            <a:solidFill>
              <a:srgbClr val="107C1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76872" y="472744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72033"/>
                </a:solidFill>
              </a:rPr>
              <a:t>Reviewer gets exact evidence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5166360" y="3063240"/>
            <a:ext cx="1005840" cy="1005840"/>
          </a:xfrm>
          <a:prstGeom prst="chevron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234440" y="5669280"/>
            <a:ext cx="9784080" cy="530352"/>
          </a:xfrm>
          <a:prstGeom prst="roundRect">
            <a:avLst>
              <a:gd name="adj" fmla="val 6897"/>
            </a:avLst>
          </a:prstGeom>
          <a:solidFill>
            <a:srgbClr val="071A2B"/>
          </a:solidFill>
          <a:ln w="12700">
            <a:solidFill>
              <a:srgbClr val="071A2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54480" y="5843016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Impact: faster diagnosis · stronger PR evidence · safer framework evolution · fewer customer-found regressions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02920" y="65562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C879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FHL 2026 · Accessibility Tree Snapshot &amp; Diff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1201400" y="651052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1475720" y="164592"/>
            <a:ext cx="384048" cy="38404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0078D4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TO FIND IT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4008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71A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Assuming merge: part of the React Native Windows developer tooling.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02920" y="1225296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6A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FHL branch is available today for review and demonstration.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783080"/>
            <a:ext cx="7635240" cy="3246120"/>
          </a:xfrm>
          <a:prstGeom prst="roundRect">
            <a:avLst>
              <a:gd name="adj" fmla="val 2254"/>
            </a:avLst>
          </a:prstGeom>
          <a:solidFill>
            <a:srgbClr val="071A2B"/>
          </a:solidFill>
          <a:ln w="12700">
            <a:solidFill>
              <a:srgbClr val="071A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05740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7C3"/>
                </a:solidFill>
              </a:rPr>
              <a:t>Repository path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0120" y="242316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packages/@rnw-scripts/accessibility-diagnostics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60120" y="297180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7C3"/>
                </a:solidFill>
              </a:rPr>
              <a:t>Run it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333756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yarn workspace @rnw-scripts/accessibility-diagnostics rnw-a11y …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60120" y="388620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7C3"/>
                </a:solidFill>
              </a:rPr>
              <a:t>FHL implementation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60120" y="425196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CEE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Branch: fhl/accessibility-tree-diff  ·  Commit: 6909efe740</a:t>
            </a:r>
            <a:endParaRPr lang="en-US" sz="1400" dirty="0"/>
          </a:p>
        </p:txBody>
      </p:sp>
      <p:pic>
        <p:nvPicPr>
          <p:cNvPr id="13" name="Image 0" descr="C:\Users\anuagra\.copilot\session-state\0f63ea4f-a16b-4fa3-b141-785aec89b5e4\files\fhl-presentation\assets\source-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0" y="1920240"/>
            <a:ext cx="2103120" cy="210312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8686800" y="42062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033"/>
                </a:solidFill>
              </a:rPr>
              <a:t>Open source branch</a:t>
            </a:r>
            <a:endParaRPr lang="en-US" sz="1400" dirty="0"/>
          </a:p>
        </p:txBody>
      </p:sp>
      <p:sp>
        <p:nvSpPr>
          <p:cNvPr id="15" name="Text 12">
            <a:hlinkClick r:id="rId2" tooltip=""/>
          </p:cNvPr>
          <p:cNvSpPr/>
          <p:nvPr/>
        </p:nvSpPr>
        <p:spPr>
          <a:xfrm>
            <a:off x="8549640" y="461772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u="sng" dirty="0">
                <a:solidFill>
                  <a:srgbClr val="0078D4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https://github.com/anuagragith/react-native-windows/tree/fhl/accessibility-tree-diff/packages/%40rnw-scripts/accessibility-diagnostics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1371600" y="5623560"/>
            <a:ext cx="9372600" cy="502920"/>
          </a:xfrm>
          <a:prstGeom prst="roundRect">
            <a:avLst>
              <a:gd name="adj" fmla="val 7273"/>
            </a:avLst>
          </a:prstGeom>
          <a:solidFill>
            <a:srgbClr val="EEF6FC"/>
          </a:solidFill>
          <a:ln w="12700">
            <a:solidFill>
              <a:srgbClr val="B8DDF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691640" y="5788152"/>
            <a:ext cx="8732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78D4"/>
                </a:solidFill>
              </a:rPr>
              <a:t>README includes capture, diff, formats, exit codes, privacy guidance, and incomplete-snapshot behavior.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502920" y="65562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C879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FHL 2026 · Accessibility Tree Snapshot &amp; Diff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11201400" y="651052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900" dirty="0"/>
          </a:p>
        </p:txBody>
      </p:sp>
      <p:pic>
        <p:nvPicPr>
          <p:cNvPr id="5" name="Media 0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475720" y="164592"/>
            <a:ext cx="384048" cy="38404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0078D4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POTENTIAL EXTENSIONS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4008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71A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snapshot engine is the foundation, not the finish line.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02920" y="1225296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6A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extension reuses the same target selection, UIA reader, model, serialization, and reporting layers.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3474720" cy="1234440"/>
          </a:xfrm>
          <a:prstGeom prst="roundRect">
            <a:avLst>
              <a:gd name="adj" fmla="val 5926"/>
            </a:avLst>
          </a:prstGeom>
          <a:solidFill>
            <a:srgbClr val="F7F9FC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828800"/>
            <a:ext cx="73152" cy="1234440"/>
          </a:xfrm>
          <a:prstGeom prst="rect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199339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Focus Path Recorder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" y="2395728"/>
            <a:ext cx="31089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E6A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Record every keyboard-focus transition and flag loops, jumps, unnamed targets, and offscreen focus.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43400" y="1828800"/>
            <a:ext cx="3474720" cy="1234440"/>
          </a:xfrm>
          <a:prstGeom prst="roundRect">
            <a:avLst>
              <a:gd name="adj" fmla="val 5926"/>
            </a:avLst>
          </a:prstGeom>
          <a:solidFill>
            <a:srgbClr val="F7F9FC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43400" y="1828800"/>
            <a:ext cx="73152" cy="123444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199339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 automation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0" y="2395728"/>
            <a:ext cx="31089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E6A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Action captures approved scenarios and posts a Markdown accessibility diff on every PR.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46720" y="1828800"/>
            <a:ext cx="3474720" cy="1234440"/>
          </a:xfrm>
          <a:prstGeom prst="roundRect">
            <a:avLst>
              <a:gd name="adj" fmla="val 5926"/>
            </a:avLst>
          </a:prstGeom>
          <a:solidFill>
            <a:srgbClr val="F7F9FC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46720" y="1828800"/>
            <a:ext cx="73152" cy="1234440"/>
          </a:xfrm>
          <a:prstGeom prst="rect">
            <a:avLst/>
          </a:prstGeom>
          <a:solidFill>
            <a:srgbClr val="107C10"/>
          </a:solidFill>
          <a:ln w="12700">
            <a:solidFill>
              <a:srgbClr val="107C1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75320" y="199339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Baseline catalog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275320" y="2395728"/>
            <a:ext cx="31089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E6A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Curated snapshots for RNTester and Gallery components across RNW release branches.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3383280"/>
            <a:ext cx="3474720" cy="1234440"/>
          </a:xfrm>
          <a:prstGeom prst="roundRect">
            <a:avLst>
              <a:gd name="adj" fmla="val 5926"/>
            </a:avLst>
          </a:prstGeom>
          <a:solidFill>
            <a:srgbClr val="F7F9FC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383280"/>
            <a:ext cx="73152" cy="1234440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35478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Interactive tree explorer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68680" y="3950208"/>
            <a:ext cx="31089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E6A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HTML visualization with before/after highlighting, filters, and drill-down property inspection.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343400" y="3383280"/>
            <a:ext cx="3474720" cy="1234440"/>
          </a:xfrm>
          <a:prstGeom prst="roundRect">
            <a:avLst>
              <a:gd name="adj" fmla="val 5926"/>
            </a:avLst>
          </a:prstGeom>
          <a:solidFill>
            <a:srgbClr val="F7F9FC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343400" y="3383280"/>
            <a:ext cx="73152" cy="1234440"/>
          </a:xfrm>
          <a:prstGeom prst="rect">
            <a:avLst/>
          </a:prstGeom>
          <a:solidFill>
            <a:srgbClr val="D13438"/>
          </a:solidFill>
          <a:ln w="12700">
            <a:solidFill>
              <a:srgbClr val="D1343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0" y="35478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Rule plug-ins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572000" y="3950208"/>
            <a:ext cx="31089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E6A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Component-specific policies for required names, roles, states, hierarchy, and keyboard behavior.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046720" y="3383280"/>
            <a:ext cx="3474720" cy="1234440"/>
          </a:xfrm>
          <a:prstGeom prst="roundRect">
            <a:avLst>
              <a:gd name="adj" fmla="val 5926"/>
            </a:avLst>
          </a:prstGeom>
          <a:solidFill>
            <a:srgbClr val="F7F9FC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046720" y="3383280"/>
            <a:ext cx="73152" cy="123444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75320" y="35478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Cross-build matrix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275320" y="3950208"/>
            <a:ext cx="31089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E6A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Compare Fabric migrations, dependency upgrades, release branches, and Windows versions at scale.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1188720" y="5257800"/>
            <a:ext cx="9784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71A2B"/>
                </a:solidFill>
              </a:rPr>
              <a:t>Next milestone: turn the local proof into a repeatable RNW CI scenario.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502920" y="65562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C879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FHL 2026 · Accessibility Tree Snapshot &amp; Diff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1201400" y="651052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900" dirty="0"/>
          </a:p>
        </p:txBody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1475720" y="164592"/>
            <a:ext cx="384048" cy="38404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0078D4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1560" y="1188720"/>
            <a:ext cx="10058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Accessibility should not depend</a:t>
            </a:r>
            <a:endParaRPr lang="en-US" sz="3800" dirty="0"/>
          </a:p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on someone noticing what cannot be seen.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1920240" y="3200400"/>
            <a:ext cx="8321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spc="150" kern="0" dirty="0">
                <a:solidFill>
                  <a:srgbClr val="00B7C3"/>
                </a:solidFill>
              </a:rPr>
              <a:t>Capture. Compare. Catch. Block.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46120" y="4434840"/>
            <a:ext cx="5669280" cy="786384"/>
          </a:xfrm>
          <a:prstGeom prst="roundRect">
            <a:avLst>
              <a:gd name="adj" fmla="val 9302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0" y="468172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</a:rPr>
              <a:t>Shift accessibility left.</a:t>
            </a:r>
            <a:endParaRPr lang="en-US" sz="2300" dirty="0"/>
          </a:p>
        </p:txBody>
      </p:sp>
      <p:sp>
        <p:nvSpPr>
          <p:cNvPr id="6" name="Text 4">
            <a:hlinkClick r:id="rId1" tooltip=""/>
          </p:cNvPr>
          <p:cNvSpPr/>
          <p:nvPr/>
        </p:nvSpPr>
        <p:spPr>
          <a:xfrm>
            <a:off x="2880360" y="59436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u="sng" dirty="0">
                <a:solidFill>
                  <a:srgbClr val="B8DDF7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https://anuagragith.github.io/react-native-windows/</a:t>
            </a:r>
            <a:endParaRPr lang="en-US" sz="1300" dirty="0"/>
          </a:p>
        </p:txBody>
      </p:sp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1475720" y="164592"/>
            <a:ext cx="384048" cy="38404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egoe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Catch the Invisible Before It Ships</dc:title>
  <dc:subject>RNW Accessibility Tree Snapshot &amp; Diff</dc:subject>
  <dc:creator>FHL 2026</dc:creator>
  <cp:lastModifiedBy>FHL 2026</cp:lastModifiedBy>
  <cp:revision>1</cp:revision>
  <dcterms:created xsi:type="dcterms:W3CDTF">2026-09-18T05:03:35Z</dcterms:created>
  <dcterms:modified xsi:type="dcterms:W3CDTF">2026-09-18T05:03:35Z</dcterms:modified>
</cp:coreProperties>
</file>