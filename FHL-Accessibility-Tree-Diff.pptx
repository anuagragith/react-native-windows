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our FHL project showcase. We built Accessibility Tree Snapshot and Diff for React Native Windows. Its purpose is simple: catch accessibility regressions that visual review cannot see, and catch them before they ship. During FHL, we took this from an idea to a tested, hardened, working developer tool, with a real React Native Gallery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core problem. These two Gallery builds look identical. A screenshot comparison would pass, and a visual reviewer would see no change. But in the build on the right, Item 3 can no longer receive keyboard focus. For keyboard and screen reader users, that is a real product regression. Today, failures like this are often discovered only during late manual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acts as a before-and-after detector for what assistive technology sees. It captures the Windows UI Automation tree, removes volatile and sensitive properties, matches stable elements, classifies meaningful changes, and produces console, JSON, or Markdown evidence. It is external and read-only, so existing applications need no instrumentation and RNW runtime behavior is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is intentionally small. First, capture a known-good application tree. Second, capture the application after the code change. Third, diff both snapshots and ask the tool to fail on potential regressions. Exit code one makes the result directly usable in continuous integration. This turns accessibility from an assumption into an artifact that reviewers can inspect and automation can enforce.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most valuable where implementation changes can alter semantics without changing pixels. Examples include Fabric migrations, native component refactors, accessibility bug fixes, dependency upgrades, and release validation. It can also become a pull request quality gate that catches removed controls, lost accessible names, changed roles, reordered elements, or controls that silently lose keyboard focusability.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diff must be trustworthy. The collector traverses incrementally and enforces node and depth limits before expanding the tree. Matching stays within an already matched parent to avoid cascading false differences. Incomplete captures are explicit and rejected by default. The schema is deterministic, privacy-sensitive values are excluded, and externally supplied text is sanitized before console or Markdown rendering. Fifteen tests and live Windows validation cover the risky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embedded narrated Gallery demonstration. It shows the healthy baseline, the visually identical regression, the five issues detected by the tool, and the CI-blocking exit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demonstration proves the key claim. The healthy and broken Gallery screenshots remain visually identical. A single shared renderer change makes Item 3 unfocusable in five different FlatList examples. The tool finds all five changes, classifies each one as a potential regression, and returns exit code one. This is precisely the type of failure that is easy to miss in review but expensive to discover after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working implementation rather than a design mockup. The package has fifteen automated tests, a warning-free release build, and live capture and diff validation against Windows applications. In the Gallery scenario it catches five propagated regressions from one source change. Because the tool is standalone and read-only, it provides immediate value with low risk to RNW product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overall impact is to shift accessibility into normal engineering review. Today, visual review may pass, manual validation happens later, and engineers then reconstruct the cause from a bug. With this project, a baseline travels with the scenario, the diff exposes the semantic change, continuous integration can block the regression, and reviewers receive exact evidence. That means faster diagnosis, safer framework evolution, and fewer customer-found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Assuming merge, the tool lives under packages, at RNW Scripts, Accessibility Diagnostics. Engineers run it through the existing Yarn workspace command. The current FHL implementation is available on the accessibility tree diff branch at commit 6909efe740. Its README documents target selection, capture limits, report formats, exit codes, privacy guidance, and incomplete snapshot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deliberately supports follow-on projects. The most compelling extension is a Focus Path Recorder that flags loops, unexpected jumps, unnamed targets, and offscreen focus. Other next steps include automated pull request comments, approved RNTester and Gallery baseline catalogs, an interactive tree explorer, component-specific rules, and comparison matrices across architectures, releases, and Windows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should not depend on someone noticing what cannot be seen. This project makes hidden semantic regressions visible, reviewable, and enforceable. Capture the tree. Compare the change. Catch the regression. Block it before merge. That is how we shift accessibility left.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HL">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p3"/><Relationship Id="rId2" Type="http://schemas.microsoft.com/office/2007/relationships/media" Target="../media/media-1-1.mp3"/><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audio" Target="../media/media-2-3.mp3"/><Relationship Id="rId4" Type="http://schemas.microsoft.com/office/2007/relationships/media" Target="../media/media-2-3.mp3"/><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audio" Target="../media/media-3-2.mp3"/><Relationship Id="rId3" Type="http://schemas.microsoft.com/office/2007/relationships/media" Target="../media/media-3-2.mp3"/><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audio" Target="../media/media-4-1.mp3"/><Relationship Id="rId2" Type="http://schemas.microsoft.com/office/2007/relationships/media" Target="../media/media-4-1.mp3"/><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audio" Target="../media/media-5-1.mp3"/><Relationship Id="rId2" Type="http://schemas.microsoft.com/office/2007/relationships/media" Target="../media/media-5-1.mp3"/><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audio" Target="../media/media-6-1.mp3"/><Relationship Id="rId2" Type="http://schemas.microsoft.com/office/2007/relationships/media" Target="../media/media-6-1.mp3"/><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hyperlink" Target="https://anuagragith.github.io/react-native-windows/demo.mp4" TargetMode="External"/><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audio" Target="../media/media-9-1.mp3"/><Relationship Id="rId2" Type="http://schemas.microsoft.com/office/2007/relationships/media" Target="../media/media-9-1.mp3"/><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audio" Target="../media/media-10-1.mp3"/><Relationship Id="rId2" Type="http://schemas.microsoft.com/office/2007/relationships/media" Target="../media/media-10-1.mp3"/><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nuagragith/react-native-windows/tree/fhl/accessibility-tree-diff/packages/%40rnw-scripts/accessibility-diagnostics" TargetMode="External"/><Relationship Id="rId1" Type="http://schemas.openxmlformats.org/officeDocument/2006/relationships/image" Target="../media/image-11-1.png"/><Relationship Id="rId3" Type="http://schemas.openxmlformats.org/officeDocument/2006/relationships/audio" Target="../media/media-11-2.mp3"/><Relationship Id="rId4" Type="http://schemas.microsoft.com/office/2007/relationships/media" Target="../media/media-11-2.mp3"/><Relationship Id="rId5" Type="http://schemas.openxmlformats.org/officeDocument/2006/relationships/image" Target="../media/image-11-4.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audio" Target="../media/media-12-1.mp3"/><Relationship Id="rId2" Type="http://schemas.microsoft.com/office/2007/relationships/media" Target="../media/media-12-1.mp3"/><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anuagragith.github.io/react-native-windows/" TargetMode="External"/><Relationship Id="rId2" Type="http://schemas.openxmlformats.org/officeDocument/2006/relationships/audio" Target="../media/media-13-1.mp3"/><Relationship Id="rId3" Type="http://schemas.microsoft.com/office/2007/relationships/media" Target="../media/media-13-1.mp3"/><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A2B"/>
        </a:solidFill>
      </p:bgPr>
    </p:bg>
    <p:spTree>
      <p:nvGrpSpPr>
        <p:cNvPr id="1" name=""/>
        <p:cNvGrpSpPr/>
        <p:nvPr/>
      </p:nvGrpSpPr>
      <p:grpSpPr>
        <a:xfrm>
          <a:off x="0" y="0"/>
          <a:ext cx="0" cy="0"/>
          <a:chOff x="0" y="0"/>
          <a:chExt cx="0" cy="0"/>
        </a:xfrm>
      </p:grpSpPr>
      <p:sp>
        <p:nvSpPr>
          <p:cNvPr id="2" name="Shape 0"/>
          <p:cNvSpPr/>
          <p:nvPr/>
        </p:nvSpPr>
        <p:spPr>
          <a:xfrm>
            <a:off x="8778240" y="-731520"/>
            <a:ext cx="4297680" cy="4297680"/>
          </a:xfrm>
          <a:prstGeom prst="ellipse">
            <a:avLst/>
          </a:prstGeom>
          <a:solidFill>
            <a:srgbClr val="00B7C3">
              <a:alpha val="17000"/>
            </a:srgbClr>
          </a:solidFill>
          <a:ln w="12700">
            <a:solidFill>
              <a:srgbClr val="333333">
                <a:alpha val="0"/>
              </a:srgbClr>
            </a:solidFill>
            <a:prstDash val="solid"/>
          </a:ln>
        </p:spPr>
      </p:sp>
      <p:sp>
        <p:nvSpPr>
          <p:cNvPr id="3" name="Shape 1"/>
          <p:cNvSpPr/>
          <p:nvPr/>
        </p:nvSpPr>
        <p:spPr>
          <a:xfrm>
            <a:off x="9784080" y="3840480"/>
            <a:ext cx="4389120" cy="4389120"/>
          </a:xfrm>
          <a:prstGeom prst="ellipse">
            <a:avLst/>
          </a:prstGeom>
          <a:solidFill>
            <a:srgbClr val="0078D4">
              <a:alpha val="22000"/>
            </a:srgbClr>
          </a:solidFill>
          <a:ln w="12700">
            <a:solidFill>
              <a:srgbClr val="333333">
                <a:alpha val="0"/>
              </a:srgbClr>
            </a:solidFill>
            <a:prstDash val="solid"/>
          </a:ln>
        </p:spPr>
      </p:sp>
      <p:sp>
        <p:nvSpPr>
          <p:cNvPr id="4" name="Text 2"/>
          <p:cNvSpPr/>
          <p:nvPr/>
        </p:nvSpPr>
        <p:spPr>
          <a:xfrm>
            <a:off x="731520" y="731520"/>
            <a:ext cx="4572000" cy="274320"/>
          </a:xfrm>
          <a:prstGeom prst="rect">
            <a:avLst/>
          </a:prstGeom>
          <a:noFill/>
          <a:ln/>
        </p:spPr>
        <p:txBody>
          <a:bodyPr wrap="square" lIns="0" tIns="0" rIns="0" bIns="0" rtlCol="0" anchor="ctr"/>
          <a:lstStyle/>
          <a:p>
            <a:pPr indent="0" marL="0">
              <a:buNone/>
            </a:pPr>
            <a:r>
              <a:rPr lang="en-US" sz="1300" b="1" spc="200" kern="0" dirty="0">
                <a:solidFill>
                  <a:srgbClr val="00B7C3"/>
                </a:solidFill>
                <a:latin typeface="Segoe UI" pitchFamily="34" charset="0"/>
                <a:ea typeface="Segoe UI" pitchFamily="34" charset="-122"/>
                <a:cs typeface="Segoe UI" pitchFamily="34" charset="-120"/>
              </a:rPr>
              <a:t>FHL 2026 PROJECT SHOWCASE</a:t>
            </a:r>
            <a:endParaRPr lang="en-US" sz="1300" dirty="0"/>
          </a:p>
        </p:txBody>
      </p:sp>
      <p:sp>
        <p:nvSpPr>
          <p:cNvPr id="5" name="Text 3"/>
          <p:cNvSpPr/>
          <p:nvPr/>
        </p:nvSpPr>
        <p:spPr>
          <a:xfrm>
            <a:off x="731520" y="1417320"/>
            <a:ext cx="7863840" cy="1920240"/>
          </a:xfrm>
          <a:prstGeom prst="rect">
            <a:avLst/>
          </a:prstGeom>
          <a:noFill/>
          <a:ln/>
        </p:spPr>
        <p:txBody>
          <a:bodyPr wrap="square" lIns="0" tIns="0" rIns="0" bIns="0" rtlCol="0" anchor="ctr"/>
          <a:lstStyle/>
          <a:p>
            <a:pPr indent="0" marL="0">
              <a:buNone/>
            </a:pPr>
            <a:r>
              <a:rPr lang="en-US" sz="4900" b="1" dirty="0">
                <a:solidFill>
                  <a:srgbClr val="FFFFFF"/>
                </a:solidFill>
                <a:latin typeface="Segoe UI" pitchFamily="34" charset="0"/>
                <a:ea typeface="Segoe UI" pitchFamily="34" charset="-122"/>
                <a:cs typeface="Segoe UI" pitchFamily="34" charset="-120"/>
              </a:rPr>
              <a:t>Catch the invisible</a:t>
            </a:r>
            <a:endParaRPr lang="en-US" sz="4900" dirty="0"/>
          </a:p>
          <a:p>
            <a:pPr indent="0" marL="0">
              <a:buNone/>
            </a:pPr>
            <a:r>
              <a:rPr lang="en-US" sz="4900" b="1" dirty="0">
                <a:solidFill>
                  <a:srgbClr val="FFFFFF"/>
                </a:solidFill>
                <a:latin typeface="Segoe UI" pitchFamily="34" charset="0"/>
                <a:ea typeface="Segoe UI" pitchFamily="34" charset="-122"/>
                <a:cs typeface="Segoe UI" pitchFamily="34" charset="-120"/>
              </a:rPr>
              <a:t>before it ships.</a:t>
            </a:r>
            <a:endParaRPr lang="en-US" sz="4900" dirty="0"/>
          </a:p>
        </p:txBody>
      </p:sp>
      <p:sp>
        <p:nvSpPr>
          <p:cNvPr id="6" name="Text 4"/>
          <p:cNvSpPr/>
          <p:nvPr/>
        </p:nvSpPr>
        <p:spPr>
          <a:xfrm>
            <a:off x="777240" y="3703320"/>
            <a:ext cx="7772400" cy="640080"/>
          </a:xfrm>
          <a:prstGeom prst="rect">
            <a:avLst/>
          </a:prstGeom>
          <a:noFill/>
          <a:ln/>
        </p:spPr>
        <p:txBody>
          <a:bodyPr wrap="square" lIns="0" tIns="0" rIns="0" bIns="0" rtlCol="0" anchor="ctr"/>
          <a:lstStyle/>
          <a:p>
            <a:pPr indent="0" marL="0">
              <a:buNone/>
            </a:pPr>
            <a:r>
              <a:rPr lang="en-US" sz="2300" dirty="0">
                <a:solidFill>
                  <a:srgbClr val="C7E6FB"/>
                </a:solidFill>
                <a:latin typeface="Segoe UI" pitchFamily="34" charset="0"/>
                <a:ea typeface="Segoe UI" pitchFamily="34" charset="-122"/>
                <a:cs typeface="Segoe UI" pitchFamily="34" charset="-120"/>
              </a:rPr>
              <a:t>Accessibility Tree Snapshot &amp; Diff for React Native Windows</a:t>
            </a:r>
            <a:endParaRPr lang="en-US" sz="2300" dirty="0"/>
          </a:p>
        </p:txBody>
      </p:sp>
      <p:sp>
        <p:nvSpPr>
          <p:cNvPr id="7" name="Shape 5"/>
          <p:cNvSpPr/>
          <p:nvPr/>
        </p:nvSpPr>
        <p:spPr>
          <a:xfrm>
            <a:off x="777240" y="4800600"/>
            <a:ext cx="4389120" cy="658368"/>
          </a:xfrm>
          <a:prstGeom prst="roundRect">
            <a:avLst>
              <a:gd name="adj" fmla="val 11111"/>
            </a:avLst>
          </a:prstGeom>
          <a:solidFill>
            <a:srgbClr val="0078D4"/>
          </a:solidFill>
          <a:ln w="12700">
            <a:solidFill>
              <a:srgbClr val="0078D4"/>
            </a:solidFill>
            <a:prstDash val="solid"/>
          </a:ln>
        </p:spPr>
      </p:sp>
      <p:sp>
        <p:nvSpPr>
          <p:cNvPr id="8" name="Text 6"/>
          <p:cNvSpPr/>
          <p:nvPr/>
        </p:nvSpPr>
        <p:spPr>
          <a:xfrm>
            <a:off x="1051560" y="5001768"/>
            <a:ext cx="3840480" cy="228600"/>
          </a:xfrm>
          <a:prstGeom prst="rect">
            <a:avLst/>
          </a:prstGeom>
          <a:noFill/>
          <a:ln/>
        </p:spPr>
        <p: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Real Gallery · Real UIA · Real regression</a:t>
            </a:r>
            <a:endParaRPr lang="en-US" sz="1600" dirty="0"/>
          </a:p>
        </p:txBody>
      </p:sp>
      <p:sp>
        <p:nvSpPr>
          <p:cNvPr id="9" name="Text 7"/>
          <p:cNvSpPr/>
          <p:nvPr/>
        </p:nvSpPr>
        <p:spPr>
          <a:xfrm>
            <a:off x="777240" y="5852160"/>
            <a:ext cx="8046720" cy="365760"/>
          </a:xfrm>
          <a:prstGeom prst="rect">
            <a:avLst/>
          </a:prstGeom>
          <a:noFill/>
          <a:ln/>
        </p:spPr>
        <p:txBody>
          <a:bodyPr wrap="square" lIns="0" tIns="0" rIns="0" bIns="0" rtlCol="0" anchor="ctr"/>
          <a:lstStyle/>
          <a:p>
            <a:pPr indent="0" marL="0">
              <a:buNone/>
            </a:pPr>
            <a:r>
              <a:rPr lang="en-US" sz="1300" dirty="0">
                <a:solidFill>
                  <a:srgbClr val="A8BDD0"/>
                </a:solidFill>
                <a:latin typeface="Segoe UI" pitchFamily="34" charset="0"/>
                <a:ea typeface="Segoe UI" pitchFamily="34" charset="-122"/>
                <a:cs typeface="Segoe UI" pitchFamily="34" charset="-120"/>
              </a:rPr>
              <a:t>Built end-to-end during FHL: implementation, tests, hardening, live validation, and demo.</a:t>
            </a:r>
            <a:endParaRPr lang="en-US" sz="13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PROBLEM</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Accessibility regressions are often invisible.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A UI can look pixel-perfect while becoming unusable to keyboard and screen-reader users.</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94360" y="1874520"/>
            <a:ext cx="5212080" cy="4023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6355080" y="1874520"/>
            <a:ext cx="5212080" cy="4023360"/>
          </a:xfrm>
          <a:prstGeom prst="rect">
            <a:avLst/>
          </a:prstGeom>
        </p:spPr>
      </p:pic>
      <p:sp>
        <p:nvSpPr>
          <p:cNvPr id="8" name="Text 4"/>
          <p:cNvSpPr/>
          <p:nvPr/>
        </p:nvSpPr>
        <p:spPr>
          <a:xfrm>
            <a:off x="822960" y="1691640"/>
            <a:ext cx="1828800" cy="228600"/>
          </a:xfrm>
          <a:prstGeom prst="rect">
            <a:avLst/>
          </a:prstGeom>
          <a:noFill/>
          <a:ln/>
        </p:spPr>
        <p:txBody>
          <a:bodyPr wrap="square" lIns="0" tIns="0" rIns="0" bIns="0" rtlCol="0" anchor="ctr"/>
          <a:lstStyle/>
          <a:p>
            <a:pPr indent="0" marL="0">
              <a:buNone/>
            </a:pPr>
            <a:r>
              <a:rPr lang="en-US" sz="1100" b="1" dirty="0">
                <a:solidFill>
                  <a:srgbClr val="107C10"/>
                </a:solidFill>
              </a:rPr>
              <a:t>HEALTHY BUILD</a:t>
            </a:r>
            <a:endParaRPr lang="en-US" sz="1100" dirty="0"/>
          </a:p>
        </p:txBody>
      </p:sp>
      <p:sp>
        <p:nvSpPr>
          <p:cNvPr id="9" name="Text 5"/>
          <p:cNvSpPr/>
          <p:nvPr/>
        </p:nvSpPr>
        <p:spPr>
          <a:xfrm>
            <a:off x="6583680" y="1691640"/>
            <a:ext cx="1828800" cy="228600"/>
          </a:xfrm>
          <a:prstGeom prst="rect">
            <a:avLst/>
          </a:prstGeom>
          <a:noFill/>
          <a:ln/>
        </p:spPr>
        <p:txBody>
          <a:bodyPr wrap="square" lIns="0" tIns="0" rIns="0" bIns="0" rtlCol="0" anchor="ctr"/>
          <a:lstStyle/>
          <a:p>
            <a:pPr indent="0" marL="0">
              <a:buNone/>
            </a:pPr>
            <a:r>
              <a:rPr lang="en-US" sz="1100" b="1" dirty="0">
                <a:solidFill>
                  <a:srgbClr val="D13438"/>
                </a:solidFill>
              </a:rPr>
              <a:t>BROKEN BUILD</a:t>
            </a:r>
            <a:endParaRPr lang="en-US" sz="1100" dirty="0"/>
          </a:p>
        </p:txBody>
      </p:sp>
      <p:sp>
        <p:nvSpPr>
          <p:cNvPr id="10" name="Shape 6"/>
          <p:cNvSpPr/>
          <p:nvPr/>
        </p:nvSpPr>
        <p:spPr>
          <a:xfrm>
            <a:off x="4343400" y="5806440"/>
            <a:ext cx="3474720" cy="475488"/>
          </a:xfrm>
          <a:prstGeom prst="roundRect">
            <a:avLst>
              <a:gd name="adj" fmla="val 11538"/>
            </a:avLst>
          </a:prstGeom>
          <a:solidFill>
            <a:srgbClr val="071A2B"/>
          </a:solidFill>
          <a:ln w="12700">
            <a:solidFill>
              <a:srgbClr val="071A2B"/>
            </a:solidFill>
            <a:prstDash val="solid"/>
          </a:ln>
        </p:spPr>
      </p:sp>
      <p:sp>
        <p:nvSpPr>
          <p:cNvPr id="11" name="Text 7"/>
          <p:cNvSpPr/>
          <p:nvPr/>
        </p:nvSpPr>
        <p:spPr>
          <a:xfrm>
            <a:off x="4617720" y="5943600"/>
            <a:ext cx="2926080" cy="182880"/>
          </a:xfrm>
          <a:prstGeom prst="rect">
            <a:avLst/>
          </a:prstGeom>
          <a:noFill/>
          <a:ln/>
        </p:spPr>
        <p:txBody>
          <a:bodyPr wrap="square" lIns="0" tIns="0" rIns="0" bIns="0" rtlCol="0" anchor="ctr"/>
          <a:lstStyle/>
          <a:p>
            <a:pPr algn="ctr" indent="0" marL="0">
              <a:buNone/>
            </a:pPr>
            <a:r>
              <a:rPr lang="en-US" sz="1700" b="1" dirty="0">
                <a:solidFill>
                  <a:srgbClr val="FFFFFF"/>
                </a:solidFill>
              </a:rPr>
              <a:t>They look the same.</a:t>
            </a:r>
            <a:endParaRPr lang="en-US" sz="1700" dirty="0"/>
          </a:p>
        </p:txBody>
      </p:sp>
      <p:sp>
        <p:nvSpPr>
          <p:cNvPr id="12" name="Text 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3" name="Text 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02</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FHL PROJECT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before-and-after detector for what assistive technology sees.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Capture two Windows UI Automation trees, compare them deterministically, and fail when semantics regress.</a:t>
            </a:r>
            <a:endParaRPr lang="en-US" sz="1500" dirty="0"/>
          </a:p>
        </p:txBody>
      </p:sp>
      <p:pic>
        <p:nvPicPr>
          <p:cNvPr id="6" name="Image 0" descr="C:\Users\anuagra\.copilot\session-state\0f63ea4f-a16b-4fa3-b141-785aec89b5e4\files\fhl-presentation\assets\architecture.png">    </p:cNvPr>
          <p:cNvPicPr>
            <a:picLocks noChangeAspect="1"/>
          </p:cNvPicPr>
          <p:nvPr/>
        </p:nvPicPr>
        <p:blipFill>
          <a:blip r:embed="rId1"/>
          <a:stretch>
            <a:fillRect/>
          </a:stretch>
        </p:blipFill>
        <p:spPr>
          <a:xfrm>
            <a:off x="502920" y="1691640"/>
            <a:ext cx="11155680" cy="4160520"/>
          </a:xfrm>
          <a:prstGeom prst="rect">
            <a:avLst/>
          </a:prstGeom>
        </p:spPr>
      </p:pic>
      <p:sp>
        <p:nvSpPr>
          <p:cNvPr id="7" name="Shape 4"/>
          <p:cNvSpPr/>
          <p:nvPr/>
        </p:nvSpPr>
        <p:spPr>
          <a:xfrm>
            <a:off x="685800" y="5989320"/>
            <a:ext cx="10789920" cy="384048"/>
          </a:xfrm>
          <a:prstGeom prst="roundRect">
            <a:avLst>
              <a:gd name="adj" fmla="val 9524"/>
            </a:avLst>
          </a:prstGeom>
          <a:solidFill>
            <a:srgbClr val="EEF6FC"/>
          </a:solidFill>
          <a:ln w="12700">
            <a:solidFill>
              <a:srgbClr val="B8DDF7"/>
            </a:solidFill>
            <a:prstDash val="solid"/>
          </a:ln>
        </p:spPr>
      </p:sp>
      <p:sp>
        <p:nvSpPr>
          <p:cNvPr id="8" name="Text 5"/>
          <p:cNvSpPr/>
          <p:nvPr/>
        </p:nvSpPr>
        <p:spPr>
          <a:xfrm>
            <a:off x="914400" y="6099048"/>
            <a:ext cx="10332720" cy="164592"/>
          </a:xfrm>
          <a:prstGeom prst="rect">
            <a:avLst/>
          </a:prstGeom>
          <a:noFill/>
          <a:ln/>
        </p:spPr>
        <p:txBody>
          <a:bodyPr wrap="square" lIns="0" tIns="0" rIns="0" bIns="0" rtlCol="0" anchor="ctr"/>
          <a:lstStyle/>
          <a:p>
            <a:pPr algn="ctr" indent="0" marL="0">
              <a:buNone/>
            </a:pPr>
            <a:r>
              <a:rPr lang="en-US" sz="1150" b="1" dirty="0">
                <a:solidFill>
                  <a:srgbClr val="0078D4"/>
                </a:solidFill>
              </a:rPr>
              <a:t>Read-only external tool · No application instrumentation · No RNW runtime changes · Works with existing Windows apps</a:t>
            </a:r>
            <a:endParaRPr lang="en-US" sz="1150" dirty="0"/>
          </a:p>
        </p:txBody>
      </p:sp>
      <p:sp>
        <p:nvSpPr>
          <p:cNvPr id="9" name="Text 6"/>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0" name="Text 7"/>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03</a:t>
            </a:r>
            <a:endParaRPr lang="en-US" sz="9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HOW ENGINEERS USE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Three commands turn an accessibility assumption into evidence.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same workflow works locally, during code review, or as a CI quality gate.</a:t>
            </a:r>
            <a:endParaRPr lang="en-US" sz="1500" dirty="0"/>
          </a:p>
        </p:txBody>
      </p:sp>
      <p:sp>
        <p:nvSpPr>
          <p:cNvPr id="6" name="Shape 4"/>
          <p:cNvSpPr/>
          <p:nvPr/>
        </p:nvSpPr>
        <p:spPr>
          <a:xfrm>
            <a:off x="731520" y="1874520"/>
            <a:ext cx="658368" cy="658368"/>
          </a:xfrm>
          <a:prstGeom prst="ellipse">
            <a:avLst/>
          </a:prstGeom>
          <a:solidFill>
            <a:srgbClr val="0078D4"/>
          </a:solidFill>
          <a:ln w="12700">
            <a:solidFill>
              <a:srgbClr val="0078D4"/>
            </a:solidFill>
            <a:prstDash val="solid"/>
          </a:ln>
        </p:spPr>
      </p:sp>
      <p:sp>
        <p:nvSpPr>
          <p:cNvPr id="7" name="Text 5"/>
          <p:cNvSpPr/>
          <p:nvPr/>
        </p:nvSpPr>
        <p:spPr>
          <a:xfrm>
            <a:off x="905256" y="202082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1</a:t>
            </a:r>
            <a:endParaRPr lang="en-US" sz="1700" dirty="0"/>
          </a:p>
        </p:txBody>
      </p:sp>
      <p:sp>
        <p:nvSpPr>
          <p:cNvPr id="8" name="Text 6"/>
          <p:cNvSpPr/>
          <p:nvPr/>
        </p:nvSpPr>
        <p:spPr>
          <a:xfrm>
            <a:off x="1645920" y="185623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before</a:t>
            </a:r>
            <a:endParaRPr lang="en-US" sz="1900" dirty="0"/>
          </a:p>
        </p:txBody>
      </p:sp>
      <p:sp>
        <p:nvSpPr>
          <p:cNvPr id="9" name="Shape 7"/>
          <p:cNvSpPr/>
          <p:nvPr/>
        </p:nvSpPr>
        <p:spPr>
          <a:xfrm>
            <a:off x="3703320" y="1801368"/>
            <a:ext cx="7406640" cy="822960"/>
          </a:xfrm>
          <a:prstGeom prst="roundRect">
            <a:avLst>
              <a:gd name="adj" fmla="val 4444"/>
            </a:avLst>
          </a:prstGeom>
          <a:solidFill>
            <a:srgbClr val="071A2B"/>
          </a:solidFill>
          <a:ln w="12700">
            <a:solidFill>
              <a:srgbClr val="071A2B"/>
            </a:solidFill>
            <a:prstDash val="solid"/>
          </a:ln>
        </p:spPr>
      </p:sp>
      <p:sp>
        <p:nvSpPr>
          <p:cNvPr id="10" name="Text 8"/>
          <p:cNvSpPr/>
          <p:nvPr/>
        </p:nvSpPr>
        <p:spPr>
          <a:xfrm>
            <a:off x="3977640" y="203911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before.json</a:t>
            </a:r>
            <a:endParaRPr lang="en-US" sz="1300" dirty="0"/>
          </a:p>
        </p:txBody>
      </p:sp>
      <p:sp>
        <p:nvSpPr>
          <p:cNvPr id="11" name="Shape 9"/>
          <p:cNvSpPr/>
          <p:nvPr/>
        </p:nvSpPr>
        <p:spPr>
          <a:xfrm>
            <a:off x="731520" y="3291840"/>
            <a:ext cx="658368" cy="658368"/>
          </a:xfrm>
          <a:prstGeom prst="ellipse">
            <a:avLst/>
          </a:prstGeom>
          <a:solidFill>
            <a:srgbClr val="0078D4"/>
          </a:solidFill>
          <a:ln w="12700">
            <a:solidFill>
              <a:srgbClr val="0078D4"/>
            </a:solidFill>
            <a:prstDash val="solid"/>
          </a:ln>
        </p:spPr>
      </p:sp>
      <p:sp>
        <p:nvSpPr>
          <p:cNvPr id="12" name="Text 10"/>
          <p:cNvSpPr/>
          <p:nvPr/>
        </p:nvSpPr>
        <p:spPr>
          <a:xfrm>
            <a:off x="905256" y="343814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2</a:t>
            </a:r>
            <a:endParaRPr lang="en-US" sz="1700" dirty="0"/>
          </a:p>
        </p:txBody>
      </p:sp>
      <p:sp>
        <p:nvSpPr>
          <p:cNvPr id="13" name="Text 11"/>
          <p:cNvSpPr/>
          <p:nvPr/>
        </p:nvSpPr>
        <p:spPr>
          <a:xfrm>
            <a:off x="1645920" y="327355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after</a:t>
            </a:r>
            <a:endParaRPr lang="en-US" sz="1900" dirty="0"/>
          </a:p>
        </p:txBody>
      </p:sp>
      <p:sp>
        <p:nvSpPr>
          <p:cNvPr id="14" name="Shape 12"/>
          <p:cNvSpPr/>
          <p:nvPr/>
        </p:nvSpPr>
        <p:spPr>
          <a:xfrm>
            <a:off x="3703320" y="3218688"/>
            <a:ext cx="7406640" cy="822960"/>
          </a:xfrm>
          <a:prstGeom prst="roundRect">
            <a:avLst>
              <a:gd name="adj" fmla="val 4444"/>
            </a:avLst>
          </a:prstGeom>
          <a:solidFill>
            <a:srgbClr val="071A2B"/>
          </a:solidFill>
          <a:ln w="12700">
            <a:solidFill>
              <a:srgbClr val="071A2B"/>
            </a:solidFill>
            <a:prstDash val="solid"/>
          </a:ln>
        </p:spPr>
      </p:sp>
      <p:sp>
        <p:nvSpPr>
          <p:cNvPr id="15" name="Text 13"/>
          <p:cNvSpPr/>
          <p:nvPr/>
        </p:nvSpPr>
        <p:spPr>
          <a:xfrm>
            <a:off x="3977640" y="345643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after.json</a:t>
            </a:r>
            <a:endParaRPr lang="en-US" sz="1300" dirty="0"/>
          </a:p>
        </p:txBody>
      </p:sp>
      <p:sp>
        <p:nvSpPr>
          <p:cNvPr id="16" name="Shape 14"/>
          <p:cNvSpPr/>
          <p:nvPr/>
        </p:nvSpPr>
        <p:spPr>
          <a:xfrm>
            <a:off x="731520" y="4709160"/>
            <a:ext cx="658368" cy="658368"/>
          </a:xfrm>
          <a:prstGeom prst="ellipse">
            <a:avLst/>
          </a:prstGeom>
          <a:solidFill>
            <a:srgbClr val="D13438"/>
          </a:solidFill>
          <a:ln w="12700">
            <a:solidFill>
              <a:srgbClr val="D13438"/>
            </a:solidFill>
            <a:prstDash val="solid"/>
          </a:ln>
        </p:spPr>
      </p:sp>
      <p:sp>
        <p:nvSpPr>
          <p:cNvPr id="17" name="Text 15"/>
          <p:cNvSpPr/>
          <p:nvPr/>
        </p:nvSpPr>
        <p:spPr>
          <a:xfrm>
            <a:off x="905256" y="485546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3</a:t>
            </a:r>
            <a:endParaRPr lang="en-US" sz="1700" dirty="0"/>
          </a:p>
        </p:txBody>
      </p:sp>
      <p:sp>
        <p:nvSpPr>
          <p:cNvPr id="18" name="Text 16"/>
          <p:cNvSpPr/>
          <p:nvPr/>
        </p:nvSpPr>
        <p:spPr>
          <a:xfrm>
            <a:off x="1645920" y="469087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Compare and gate</a:t>
            </a:r>
            <a:endParaRPr lang="en-US" sz="1900" dirty="0"/>
          </a:p>
        </p:txBody>
      </p:sp>
      <p:sp>
        <p:nvSpPr>
          <p:cNvPr id="19" name="Shape 17"/>
          <p:cNvSpPr/>
          <p:nvPr/>
        </p:nvSpPr>
        <p:spPr>
          <a:xfrm>
            <a:off x="3703320" y="4636008"/>
            <a:ext cx="7406640" cy="822960"/>
          </a:xfrm>
          <a:prstGeom prst="roundRect">
            <a:avLst>
              <a:gd name="adj" fmla="val 4444"/>
            </a:avLst>
          </a:prstGeom>
          <a:solidFill>
            <a:srgbClr val="071A2B"/>
          </a:solidFill>
          <a:ln w="12700">
            <a:solidFill>
              <a:srgbClr val="071A2B"/>
            </a:solidFill>
            <a:prstDash val="solid"/>
          </a:ln>
        </p:spPr>
      </p:sp>
      <p:sp>
        <p:nvSpPr>
          <p:cNvPr id="20" name="Text 18"/>
          <p:cNvSpPr/>
          <p:nvPr/>
        </p:nvSpPr>
        <p:spPr>
          <a:xfrm>
            <a:off x="3977640" y="487375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diff before.json after.json --fail-on potential-regression</a:t>
            </a:r>
            <a:endParaRPr lang="en-US" sz="1300" dirty="0"/>
          </a:p>
        </p:txBody>
      </p:sp>
      <p:sp>
        <p:nvSpPr>
          <p:cNvPr id="21" name="Text 19"/>
          <p:cNvSpPr/>
          <p:nvPr/>
        </p:nvSpPr>
        <p:spPr>
          <a:xfrm>
            <a:off x="1645920" y="5989320"/>
            <a:ext cx="9418320" cy="292608"/>
          </a:xfrm>
          <a:prstGeom prst="rect">
            <a:avLst/>
          </a:prstGeom>
          <a:noFill/>
          <a:ln/>
        </p:spPr>
        <p:txBody>
          <a:bodyPr wrap="square" lIns="0" tIns="0" rIns="0" bIns="0" rtlCol="0" anchor="ctr"/>
          <a:lstStyle/>
          <a:p>
            <a:pPr indent="0" marL="0">
              <a:buNone/>
            </a:pPr>
            <a:r>
              <a:rPr lang="en-US" sz="1500" b="1" dirty="0">
                <a:solidFill>
                  <a:srgbClr val="D13438"/>
                </a:solidFill>
              </a:rPr>
              <a:t>Exit code 1 makes the result actionable—not another report engineers have to remember to read.</a:t>
            </a:r>
            <a:endParaRPr lang="en-US" sz="1500" dirty="0"/>
          </a:p>
        </p:txBody>
      </p:sp>
      <p:sp>
        <p:nvSpPr>
          <p:cNvPr id="22" name="Text 2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3" name="Text 2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04</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IT CATCHES ISSUES EARLY</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High-risk changes where visual validation is not enough.</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tool complements—not replaces—keyboard and screen-reader testing.</a:t>
            </a:r>
            <a:endParaRPr lang="en-US" sz="1500" dirty="0"/>
          </a:p>
        </p:txBody>
      </p:sp>
      <p:sp>
        <p:nvSpPr>
          <p:cNvPr id="6" name="Shape 4"/>
          <p:cNvSpPr/>
          <p:nvPr/>
        </p:nvSpPr>
        <p:spPr>
          <a:xfrm>
            <a:off x="640080" y="1874520"/>
            <a:ext cx="3474720" cy="1325880"/>
          </a:xfrm>
          <a:prstGeom prst="roundRect">
            <a:avLst>
              <a:gd name="adj" fmla="val 5517"/>
            </a:avLst>
          </a:prstGeom>
          <a:solidFill>
            <a:srgbClr val="F7F9FC"/>
          </a:solidFill>
          <a:ln w="12700">
            <a:solidFill>
              <a:srgbClr val="D9E2EC"/>
            </a:solidFill>
            <a:prstDash val="solid"/>
          </a:ln>
        </p:spPr>
      </p:sp>
      <p:sp>
        <p:nvSpPr>
          <p:cNvPr id="7" name="Shape 5"/>
          <p:cNvSpPr/>
          <p:nvPr/>
        </p:nvSpPr>
        <p:spPr>
          <a:xfrm>
            <a:off x="640080" y="1874520"/>
            <a:ext cx="73152" cy="1325880"/>
          </a:xfrm>
          <a:prstGeom prst="rect">
            <a:avLst/>
          </a:prstGeom>
          <a:solidFill>
            <a:srgbClr val="0078D4"/>
          </a:solidFill>
          <a:ln w="12700">
            <a:solidFill>
              <a:srgbClr val="0078D4"/>
            </a:solidFill>
            <a:prstDash val="solid"/>
          </a:ln>
        </p:spPr>
      </p:sp>
      <p:sp>
        <p:nvSpPr>
          <p:cNvPr id="8" name="Text 6"/>
          <p:cNvSpPr/>
          <p:nvPr/>
        </p:nvSpPr>
        <p:spPr>
          <a:xfrm>
            <a:off x="86868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Fabric migrations</a:t>
            </a:r>
            <a:endParaRPr lang="en-US" sz="1600" dirty="0"/>
          </a:p>
        </p:txBody>
      </p:sp>
      <p:sp>
        <p:nvSpPr>
          <p:cNvPr id="9" name="Text 7"/>
          <p:cNvSpPr/>
          <p:nvPr/>
        </p:nvSpPr>
        <p:spPr>
          <a:xfrm>
            <a:off x="86868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Verify that roles, names, states, hierarchy, and focusability remain equivalent.</a:t>
            </a:r>
            <a:endParaRPr lang="en-US" sz="1150" dirty="0"/>
          </a:p>
        </p:txBody>
      </p:sp>
      <p:sp>
        <p:nvSpPr>
          <p:cNvPr id="10" name="Shape 8"/>
          <p:cNvSpPr/>
          <p:nvPr/>
        </p:nvSpPr>
        <p:spPr>
          <a:xfrm>
            <a:off x="4343400" y="1874520"/>
            <a:ext cx="3474720" cy="1325880"/>
          </a:xfrm>
          <a:prstGeom prst="roundRect">
            <a:avLst>
              <a:gd name="adj" fmla="val 5517"/>
            </a:avLst>
          </a:prstGeom>
          <a:solidFill>
            <a:srgbClr val="F7F9FC"/>
          </a:solidFill>
          <a:ln w="12700">
            <a:solidFill>
              <a:srgbClr val="D9E2EC"/>
            </a:solidFill>
            <a:prstDash val="solid"/>
          </a:ln>
        </p:spPr>
      </p:sp>
      <p:sp>
        <p:nvSpPr>
          <p:cNvPr id="11" name="Shape 9"/>
          <p:cNvSpPr/>
          <p:nvPr/>
        </p:nvSpPr>
        <p:spPr>
          <a:xfrm>
            <a:off x="4343400" y="1874520"/>
            <a:ext cx="73152" cy="1325880"/>
          </a:xfrm>
          <a:prstGeom prst="rect">
            <a:avLst/>
          </a:prstGeom>
          <a:solidFill>
            <a:srgbClr val="00B7C3"/>
          </a:solidFill>
          <a:ln w="12700">
            <a:solidFill>
              <a:srgbClr val="00B7C3"/>
            </a:solidFill>
            <a:prstDash val="solid"/>
          </a:ln>
        </p:spPr>
      </p:sp>
      <p:sp>
        <p:nvSpPr>
          <p:cNvPr id="12" name="Text 10"/>
          <p:cNvSpPr/>
          <p:nvPr/>
        </p:nvSpPr>
        <p:spPr>
          <a:xfrm>
            <a:off x="457200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Native component refactors</a:t>
            </a:r>
            <a:endParaRPr lang="en-US" sz="1600" dirty="0"/>
          </a:p>
        </p:txBody>
      </p:sp>
      <p:sp>
        <p:nvSpPr>
          <p:cNvPr id="13" name="Text 11"/>
          <p:cNvSpPr/>
          <p:nvPr/>
        </p:nvSpPr>
        <p:spPr>
          <a:xfrm>
            <a:off x="457200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Catch semantic changes caused by swapping controls or automation providers.</a:t>
            </a:r>
            <a:endParaRPr lang="en-US" sz="1150" dirty="0"/>
          </a:p>
        </p:txBody>
      </p:sp>
      <p:sp>
        <p:nvSpPr>
          <p:cNvPr id="14" name="Shape 12"/>
          <p:cNvSpPr/>
          <p:nvPr/>
        </p:nvSpPr>
        <p:spPr>
          <a:xfrm>
            <a:off x="8046720" y="1874520"/>
            <a:ext cx="3474720" cy="1325880"/>
          </a:xfrm>
          <a:prstGeom prst="roundRect">
            <a:avLst>
              <a:gd name="adj" fmla="val 5517"/>
            </a:avLst>
          </a:prstGeom>
          <a:solidFill>
            <a:srgbClr val="F7F9FC"/>
          </a:solidFill>
          <a:ln w="12700">
            <a:solidFill>
              <a:srgbClr val="D9E2EC"/>
            </a:solidFill>
            <a:prstDash val="solid"/>
          </a:ln>
        </p:spPr>
      </p:sp>
      <p:sp>
        <p:nvSpPr>
          <p:cNvPr id="15" name="Shape 13"/>
          <p:cNvSpPr/>
          <p:nvPr/>
        </p:nvSpPr>
        <p:spPr>
          <a:xfrm>
            <a:off x="8046720" y="1874520"/>
            <a:ext cx="73152" cy="1325880"/>
          </a:xfrm>
          <a:prstGeom prst="rect">
            <a:avLst/>
          </a:prstGeom>
          <a:solidFill>
            <a:srgbClr val="107C10"/>
          </a:solidFill>
          <a:ln w="12700">
            <a:solidFill>
              <a:srgbClr val="107C10"/>
            </a:solidFill>
            <a:prstDash val="solid"/>
          </a:ln>
        </p:spPr>
      </p:sp>
      <p:sp>
        <p:nvSpPr>
          <p:cNvPr id="16" name="Text 14"/>
          <p:cNvSpPr/>
          <p:nvPr/>
        </p:nvSpPr>
        <p:spPr>
          <a:xfrm>
            <a:off x="827532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Accessibility bug fixes</a:t>
            </a:r>
            <a:endParaRPr lang="en-US" sz="1600" dirty="0"/>
          </a:p>
        </p:txBody>
      </p:sp>
      <p:sp>
        <p:nvSpPr>
          <p:cNvPr id="17" name="Text 15"/>
          <p:cNvSpPr/>
          <p:nvPr/>
        </p:nvSpPr>
        <p:spPr>
          <a:xfrm>
            <a:off x="827532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Prove the intended tree change and expose accidental collateral regressions.</a:t>
            </a:r>
            <a:endParaRPr lang="en-US" sz="1150" dirty="0"/>
          </a:p>
        </p:txBody>
      </p:sp>
      <p:sp>
        <p:nvSpPr>
          <p:cNvPr id="18" name="Shape 16"/>
          <p:cNvSpPr/>
          <p:nvPr/>
        </p:nvSpPr>
        <p:spPr>
          <a:xfrm>
            <a:off x="640080" y="3520440"/>
            <a:ext cx="3474720" cy="1325880"/>
          </a:xfrm>
          <a:prstGeom prst="roundRect">
            <a:avLst>
              <a:gd name="adj" fmla="val 5517"/>
            </a:avLst>
          </a:prstGeom>
          <a:solidFill>
            <a:srgbClr val="F7F9FC"/>
          </a:solidFill>
          <a:ln w="12700">
            <a:solidFill>
              <a:srgbClr val="D9E2EC"/>
            </a:solidFill>
            <a:prstDash val="solid"/>
          </a:ln>
        </p:spPr>
      </p:sp>
      <p:sp>
        <p:nvSpPr>
          <p:cNvPr id="19" name="Shape 17"/>
          <p:cNvSpPr/>
          <p:nvPr/>
        </p:nvSpPr>
        <p:spPr>
          <a:xfrm>
            <a:off x="640080" y="3520440"/>
            <a:ext cx="73152" cy="1325880"/>
          </a:xfrm>
          <a:prstGeom prst="rect">
            <a:avLst/>
          </a:prstGeom>
          <a:solidFill>
            <a:srgbClr val="FFB900"/>
          </a:solidFill>
          <a:ln w="12700">
            <a:solidFill>
              <a:srgbClr val="FFB900"/>
            </a:solidFill>
            <a:prstDash val="solid"/>
          </a:ln>
        </p:spPr>
      </p:sp>
      <p:sp>
        <p:nvSpPr>
          <p:cNvPr id="20" name="Text 18"/>
          <p:cNvSpPr/>
          <p:nvPr/>
        </p:nvSpPr>
        <p:spPr>
          <a:xfrm>
            <a:off x="86868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Dependency upgrades</a:t>
            </a:r>
            <a:endParaRPr lang="en-US" sz="1600" dirty="0"/>
          </a:p>
        </p:txBody>
      </p:sp>
      <p:sp>
        <p:nvSpPr>
          <p:cNvPr id="21" name="Text 19"/>
          <p:cNvSpPr/>
          <p:nvPr/>
        </p:nvSpPr>
        <p:spPr>
          <a:xfrm>
            <a:off x="86868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Compare RNW, React Native, or Windows SDK versions before broad rollout.</a:t>
            </a:r>
            <a:endParaRPr lang="en-US" sz="1150" dirty="0"/>
          </a:p>
        </p:txBody>
      </p:sp>
      <p:sp>
        <p:nvSpPr>
          <p:cNvPr id="22" name="Shape 20"/>
          <p:cNvSpPr/>
          <p:nvPr/>
        </p:nvSpPr>
        <p:spPr>
          <a:xfrm>
            <a:off x="4343400" y="3520440"/>
            <a:ext cx="3474720" cy="1325880"/>
          </a:xfrm>
          <a:prstGeom prst="roundRect">
            <a:avLst>
              <a:gd name="adj" fmla="val 5517"/>
            </a:avLst>
          </a:prstGeom>
          <a:solidFill>
            <a:srgbClr val="F7F9FC"/>
          </a:solidFill>
          <a:ln w="12700">
            <a:solidFill>
              <a:srgbClr val="D9E2EC"/>
            </a:solidFill>
            <a:prstDash val="solid"/>
          </a:ln>
        </p:spPr>
      </p:sp>
      <p:sp>
        <p:nvSpPr>
          <p:cNvPr id="23" name="Shape 21"/>
          <p:cNvSpPr/>
          <p:nvPr/>
        </p:nvSpPr>
        <p:spPr>
          <a:xfrm>
            <a:off x="4343400" y="3520440"/>
            <a:ext cx="73152" cy="1325880"/>
          </a:xfrm>
          <a:prstGeom prst="rect">
            <a:avLst/>
          </a:prstGeom>
          <a:solidFill>
            <a:srgbClr val="D13438"/>
          </a:solidFill>
          <a:ln w="12700">
            <a:solidFill>
              <a:srgbClr val="D13438"/>
            </a:solidFill>
            <a:prstDash val="solid"/>
          </a:ln>
        </p:spPr>
      </p:sp>
      <p:sp>
        <p:nvSpPr>
          <p:cNvPr id="24" name="Text 22"/>
          <p:cNvSpPr/>
          <p:nvPr/>
        </p:nvSpPr>
        <p:spPr>
          <a:xfrm>
            <a:off x="457200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Release validation</a:t>
            </a:r>
            <a:endParaRPr lang="en-US" sz="1600" dirty="0"/>
          </a:p>
        </p:txBody>
      </p:sp>
      <p:sp>
        <p:nvSpPr>
          <p:cNvPr id="25" name="Text 23"/>
          <p:cNvSpPr/>
          <p:nvPr/>
        </p:nvSpPr>
        <p:spPr>
          <a:xfrm>
            <a:off x="457200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Create repeatable semantic evidence across release branches and builds.</a:t>
            </a:r>
            <a:endParaRPr lang="en-US" sz="1150" dirty="0"/>
          </a:p>
        </p:txBody>
      </p:sp>
      <p:sp>
        <p:nvSpPr>
          <p:cNvPr id="26" name="Shape 24"/>
          <p:cNvSpPr/>
          <p:nvPr/>
        </p:nvSpPr>
        <p:spPr>
          <a:xfrm>
            <a:off x="8046720" y="3520440"/>
            <a:ext cx="3474720" cy="1325880"/>
          </a:xfrm>
          <a:prstGeom prst="roundRect">
            <a:avLst>
              <a:gd name="adj" fmla="val 5517"/>
            </a:avLst>
          </a:prstGeom>
          <a:solidFill>
            <a:srgbClr val="F7F9FC"/>
          </a:solidFill>
          <a:ln w="12700">
            <a:solidFill>
              <a:srgbClr val="D9E2EC"/>
            </a:solidFill>
            <a:prstDash val="solid"/>
          </a:ln>
        </p:spPr>
      </p:sp>
      <p:sp>
        <p:nvSpPr>
          <p:cNvPr id="27" name="Shape 25"/>
          <p:cNvSpPr/>
          <p:nvPr/>
        </p:nvSpPr>
        <p:spPr>
          <a:xfrm>
            <a:off x="8046720" y="3520440"/>
            <a:ext cx="73152" cy="1325880"/>
          </a:xfrm>
          <a:prstGeom prst="rect">
            <a:avLst/>
          </a:prstGeom>
          <a:solidFill>
            <a:srgbClr val="0078D4"/>
          </a:solidFill>
          <a:ln w="12700">
            <a:solidFill>
              <a:srgbClr val="0078D4"/>
            </a:solidFill>
            <a:prstDash val="solid"/>
          </a:ln>
        </p:spPr>
      </p:sp>
      <p:sp>
        <p:nvSpPr>
          <p:cNvPr id="28" name="Text 26"/>
          <p:cNvSpPr/>
          <p:nvPr/>
        </p:nvSpPr>
        <p:spPr>
          <a:xfrm>
            <a:off x="827532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 quality gates</a:t>
            </a:r>
            <a:endParaRPr lang="en-US" sz="1600" dirty="0"/>
          </a:p>
        </p:txBody>
      </p:sp>
      <p:sp>
        <p:nvSpPr>
          <p:cNvPr id="29" name="Text 27"/>
          <p:cNvSpPr/>
          <p:nvPr/>
        </p:nvSpPr>
        <p:spPr>
          <a:xfrm>
            <a:off x="827532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Fail automatically when an interactive control disappears or loses focusability.</a:t>
            </a:r>
            <a:endParaRPr lang="en-US" sz="1150" dirty="0"/>
          </a:p>
        </p:txBody>
      </p:sp>
      <p:sp>
        <p:nvSpPr>
          <p:cNvPr id="30" name="Shape 28"/>
          <p:cNvSpPr/>
          <p:nvPr/>
        </p:nvSpPr>
        <p:spPr>
          <a:xfrm>
            <a:off x="1371600" y="5257800"/>
            <a:ext cx="9464040" cy="822960"/>
          </a:xfrm>
          <a:prstGeom prst="roundRect">
            <a:avLst>
              <a:gd name="adj" fmla="val 8889"/>
            </a:avLst>
          </a:prstGeom>
          <a:solidFill>
            <a:srgbClr val="071A2B"/>
          </a:solidFill>
          <a:ln w="12700">
            <a:solidFill>
              <a:srgbClr val="071A2B"/>
            </a:solidFill>
            <a:prstDash val="solid"/>
          </a:ln>
        </p:spPr>
      </p:sp>
      <p:sp>
        <p:nvSpPr>
          <p:cNvPr id="31" name="Text 29"/>
          <p:cNvSpPr/>
          <p:nvPr/>
        </p:nvSpPr>
        <p:spPr>
          <a:xfrm>
            <a:off x="1737360" y="5504688"/>
            <a:ext cx="8732520" cy="274320"/>
          </a:xfrm>
          <a:prstGeom prst="rect">
            <a:avLst/>
          </a:prstGeom>
          <a:noFill/>
          <a:ln/>
        </p:spPr>
        <p:txBody>
          <a:bodyPr wrap="square" lIns="0" tIns="0" rIns="0" bIns="0" rtlCol="0" anchor="ctr"/>
          <a:lstStyle/>
          <a:p>
            <a:pPr algn="ctr" indent="0" marL="0">
              <a:buNone/>
            </a:pPr>
            <a:r>
              <a:rPr lang="en-US" sz="1600" b="1" dirty="0">
                <a:solidFill>
                  <a:srgbClr val="FFFFFF"/>
                </a:solidFill>
              </a:rPr>
              <a:t>Best moment to find an accessibility regression: before it becomes a manual test failure—or a customer bug.</a:t>
            </a:r>
            <a:endParaRPr lang="en-US" sz="1600" dirty="0"/>
          </a:p>
        </p:txBody>
      </p:sp>
      <p:sp>
        <p:nvSpPr>
          <p:cNvPr id="32" name="Text 3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3" name="Text 3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05</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TECHNICAL DEPTH</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Designed for trustworthy diffs—not just tree dumps.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implementation was hardened through repeated bug-focused review and live Windows validation.</a:t>
            </a:r>
            <a:endParaRPr lang="en-US" sz="1500" dirty="0"/>
          </a:p>
        </p:txBody>
      </p:sp>
      <p:sp>
        <p:nvSpPr>
          <p:cNvPr id="6" name="Shape 4"/>
          <p:cNvSpPr/>
          <p:nvPr/>
        </p:nvSpPr>
        <p:spPr>
          <a:xfrm>
            <a:off x="640080" y="1828800"/>
            <a:ext cx="3474720" cy="1234440"/>
          </a:xfrm>
          <a:prstGeom prst="roundRect">
            <a:avLst>
              <a:gd name="adj" fmla="val 5926"/>
            </a:avLst>
          </a:prstGeom>
          <a:solidFill>
            <a:srgbClr val="F7F9FC"/>
          </a:solidFill>
          <a:ln w="12700">
            <a:solidFill>
              <a:srgbClr val="D9E2EC"/>
            </a:solidFill>
            <a:prstDash val="solid"/>
          </a:ln>
        </p:spPr>
      </p:sp>
      <p:sp>
        <p:nvSpPr>
          <p:cNvPr id="7" name="Shape 5"/>
          <p:cNvSpPr/>
          <p:nvPr/>
        </p:nvSpPr>
        <p:spPr>
          <a:xfrm>
            <a:off x="640080" y="1828800"/>
            <a:ext cx="73152" cy="1234440"/>
          </a:xfrm>
          <a:prstGeom prst="rect">
            <a:avLst/>
          </a:prstGeom>
          <a:solidFill>
            <a:srgbClr val="0078D4"/>
          </a:solidFill>
          <a:ln w="12700">
            <a:solidFill>
              <a:srgbClr val="0078D4"/>
            </a:solidFill>
            <a:prstDash val="solid"/>
          </a:ln>
        </p:spPr>
      </p:sp>
      <p:sp>
        <p:nvSpPr>
          <p:cNvPr id="8" name="Text 6"/>
          <p:cNvSpPr/>
          <p:nvPr/>
        </p:nvSpPr>
        <p:spPr>
          <a:xfrm>
            <a:off x="868680" y="19933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Bounded incremental capture</a:t>
            </a:r>
            <a:endParaRPr lang="en-US" sz="1600" dirty="0"/>
          </a:p>
        </p:txBody>
      </p:sp>
      <p:sp>
        <p:nvSpPr>
          <p:cNvPr id="9" name="Text 7"/>
          <p:cNvSpPr/>
          <p:nvPr/>
        </p:nvSpPr>
        <p:spPr>
          <a:xfrm>
            <a:off x="868680" y="239572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TreeWalker traversal applies depth and node limits before requesting more descendants.</a:t>
            </a:r>
            <a:endParaRPr lang="en-US" sz="1150" dirty="0"/>
          </a:p>
        </p:txBody>
      </p:sp>
      <p:sp>
        <p:nvSpPr>
          <p:cNvPr id="10" name="Shape 8"/>
          <p:cNvSpPr/>
          <p:nvPr/>
        </p:nvSpPr>
        <p:spPr>
          <a:xfrm>
            <a:off x="4343400" y="1828800"/>
            <a:ext cx="3474720" cy="1234440"/>
          </a:xfrm>
          <a:prstGeom prst="roundRect">
            <a:avLst>
              <a:gd name="adj" fmla="val 5926"/>
            </a:avLst>
          </a:prstGeom>
          <a:solidFill>
            <a:srgbClr val="F7F9FC"/>
          </a:solidFill>
          <a:ln w="12700">
            <a:solidFill>
              <a:srgbClr val="D9E2EC"/>
            </a:solidFill>
            <a:prstDash val="solid"/>
          </a:ln>
        </p:spPr>
      </p:sp>
      <p:sp>
        <p:nvSpPr>
          <p:cNvPr id="11" name="Shape 9"/>
          <p:cNvSpPr/>
          <p:nvPr/>
        </p:nvSpPr>
        <p:spPr>
          <a:xfrm>
            <a:off x="4343400" y="1828800"/>
            <a:ext cx="73152" cy="1234440"/>
          </a:xfrm>
          <a:prstGeom prst="rect">
            <a:avLst/>
          </a:prstGeom>
          <a:solidFill>
            <a:srgbClr val="00B7C3"/>
          </a:solidFill>
          <a:ln w="12700">
            <a:solidFill>
              <a:srgbClr val="00B7C3"/>
            </a:solidFill>
            <a:prstDash val="solid"/>
          </a:ln>
        </p:spPr>
      </p:sp>
      <p:sp>
        <p:nvSpPr>
          <p:cNvPr id="12" name="Text 10"/>
          <p:cNvSpPr/>
          <p:nvPr/>
        </p:nvSpPr>
        <p:spPr>
          <a:xfrm>
            <a:off x="4572000" y="19933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Stable sibling matching</a:t>
            </a:r>
            <a:endParaRPr lang="en-US" sz="1600" dirty="0"/>
          </a:p>
        </p:txBody>
      </p:sp>
      <p:sp>
        <p:nvSpPr>
          <p:cNvPr id="13" name="Text 11"/>
          <p:cNvSpPr/>
          <p:nvPr/>
        </p:nvSpPr>
        <p:spPr>
          <a:xfrm>
            <a:off x="4572000" y="239572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Automation IDs, stable characteristics, and bounded sequence alignment prevent cascade noise.</a:t>
            </a:r>
            <a:endParaRPr lang="en-US" sz="1150" dirty="0"/>
          </a:p>
        </p:txBody>
      </p:sp>
      <p:sp>
        <p:nvSpPr>
          <p:cNvPr id="14" name="Shape 12"/>
          <p:cNvSpPr/>
          <p:nvPr/>
        </p:nvSpPr>
        <p:spPr>
          <a:xfrm>
            <a:off x="8046720" y="1828800"/>
            <a:ext cx="3474720" cy="1234440"/>
          </a:xfrm>
          <a:prstGeom prst="roundRect">
            <a:avLst>
              <a:gd name="adj" fmla="val 5926"/>
            </a:avLst>
          </a:prstGeom>
          <a:solidFill>
            <a:srgbClr val="F7F9FC"/>
          </a:solidFill>
          <a:ln w="12700">
            <a:solidFill>
              <a:srgbClr val="D9E2EC"/>
            </a:solidFill>
            <a:prstDash val="solid"/>
          </a:ln>
        </p:spPr>
      </p:sp>
      <p:sp>
        <p:nvSpPr>
          <p:cNvPr id="15" name="Shape 13"/>
          <p:cNvSpPr/>
          <p:nvPr/>
        </p:nvSpPr>
        <p:spPr>
          <a:xfrm>
            <a:off x="8046720" y="1828800"/>
            <a:ext cx="73152" cy="1234440"/>
          </a:xfrm>
          <a:prstGeom prst="rect">
            <a:avLst/>
          </a:prstGeom>
          <a:solidFill>
            <a:srgbClr val="D13438"/>
          </a:solidFill>
          <a:ln w="12700">
            <a:solidFill>
              <a:srgbClr val="D13438"/>
            </a:solidFill>
            <a:prstDash val="solid"/>
          </a:ln>
        </p:spPr>
      </p:sp>
      <p:sp>
        <p:nvSpPr>
          <p:cNvPr id="16" name="Text 14"/>
          <p:cNvSpPr/>
          <p:nvPr/>
        </p:nvSpPr>
        <p:spPr>
          <a:xfrm>
            <a:off x="8275320" y="19933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Incomplete-capture safety</a:t>
            </a:r>
            <a:endParaRPr lang="en-US" sz="1600" dirty="0"/>
          </a:p>
        </p:txBody>
      </p:sp>
      <p:sp>
        <p:nvSpPr>
          <p:cNvPr id="17" name="Text 15"/>
          <p:cNvSpPr/>
          <p:nvPr/>
        </p:nvSpPr>
        <p:spPr>
          <a:xfrm>
            <a:off x="8275320" y="239572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Transient UIA failures are retained as explicit incomplete snapshots instead of false clean results.</a:t>
            </a:r>
            <a:endParaRPr lang="en-US" sz="1150" dirty="0"/>
          </a:p>
        </p:txBody>
      </p:sp>
      <p:sp>
        <p:nvSpPr>
          <p:cNvPr id="18" name="Shape 16"/>
          <p:cNvSpPr/>
          <p:nvPr/>
        </p:nvSpPr>
        <p:spPr>
          <a:xfrm>
            <a:off x="640080" y="3383280"/>
            <a:ext cx="3474720" cy="1234440"/>
          </a:xfrm>
          <a:prstGeom prst="roundRect">
            <a:avLst>
              <a:gd name="adj" fmla="val 5926"/>
            </a:avLst>
          </a:prstGeom>
          <a:solidFill>
            <a:srgbClr val="F7F9FC"/>
          </a:solidFill>
          <a:ln w="12700">
            <a:solidFill>
              <a:srgbClr val="D9E2EC"/>
            </a:solidFill>
            <a:prstDash val="solid"/>
          </a:ln>
        </p:spPr>
      </p:sp>
      <p:sp>
        <p:nvSpPr>
          <p:cNvPr id="19" name="Shape 17"/>
          <p:cNvSpPr/>
          <p:nvPr/>
        </p:nvSpPr>
        <p:spPr>
          <a:xfrm>
            <a:off x="640080" y="3383280"/>
            <a:ext cx="73152" cy="1234440"/>
          </a:xfrm>
          <a:prstGeom prst="rect">
            <a:avLst/>
          </a:prstGeom>
          <a:solidFill>
            <a:srgbClr val="107C10"/>
          </a:solidFill>
          <a:ln w="12700">
            <a:solidFill>
              <a:srgbClr val="107C10"/>
            </a:solidFill>
            <a:prstDash val="solid"/>
          </a:ln>
        </p:spPr>
      </p:sp>
      <p:sp>
        <p:nvSpPr>
          <p:cNvPr id="20" name="Text 18"/>
          <p:cNvSpPr/>
          <p:nvPr/>
        </p:nvSpPr>
        <p:spPr>
          <a:xfrm>
            <a:off x="868680" y="354787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Privacy by design</a:t>
            </a:r>
            <a:endParaRPr lang="en-US" sz="1600" dirty="0"/>
          </a:p>
        </p:txBody>
      </p:sp>
      <p:sp>
        <p:nvSpPr>
          <p:cNvPr id="21" name="Text 19"/>
          <p:cNvSpPr/>
          <p:nvPr/>
        </p:nvSpPr>
        <p:spPr>
          <a:xfrm>
            <a:off x="868680" y="395020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No text-field values, runtime IDs, exact bounds, or keyboard-focus state in comparisons.</a:t>
            </a:r>
            <a:endParaRPr lang="en-US" sz="1150" dirty="0"/>
          </a:p>
        </p:txBody>
      </p:sp>
      <p:sp>
        <p:nvSpPr>
          <p:cNvPr id="22" name="Shape 20"/>
          <p:cNvSpPr/>
          <p:nvPr/>
        </p:nvSpPr>
        <p:spPr>
          <a:xfrm>
            <a:off x="4343400" y="3383280"/>
            <a:ext cx="3474720" cy="1234440"/>
          </a:xfrm>
          <a:prstGeom prst="roundRect">
            <a:avLst>
              <a:gd name="adj" fmla="val 5926"/>
            </a:avLst>
          </a:prstGeom>
          <a:solidFill>
            <a:srgbClr val="F7F9FC"/>
          </a:solidFill>
          <a:ln w="12700">
            <a:solidFill>
              <a:srgbClr val="D9E2EC"/>
            </a:solidFill>
            <a:prstDash val="solid"/>
          </a:ln>
        </p:spPr>
      </p:sp>
      <p:sp>
        <p:nvSpPr>
          <p:cNvPr id="23" name="Shape 21"/>
          <p:cNvSpPr/>
          <p:nvPr/>
        </p:nvSpPr>
        <p:spPr>
          <a:xfrm>
            <a:off x="4343400" y="3383280"/>
            <a:ext cx="73152" cy="1234440"/>
          </a:xfrm>
          <a:prstGeom prst="rect">
            <a:avLst/>
          </a:prstGeom>
          <a:solidFill>
            <a:srgbClr val="FFB900"/>
          </a:solidFill>
          <a:ln w="12700">
            <a:solidFill>
              <a:srgbClr val="FFB900"/>
            </a:solidFill>
            <a:prstDash val="solid"/>
          </a:ln>
        </p:spPr>
      </p:sp>
      <p:sp>
        <p:nvSpPr>
          <p:cNvPr id="24" name="Text 22"/>
          <p:cNvSpPr/>
          <p:nvPr/>
        </p:nvSpPr>
        <p:spPr>
          <a:xfrm>
            <a:off x="4572000" y="354787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Deterministic schema</a:t>
            </a:r>
            <a:endParaRPr lang="en-US" sz="1600" dirty="0"/>
          </a:p>
        </p:txBody>
      </p:sp>
      <p:sp>
        <p:nvSpPr>
          <p:cNvPr id="25" name="Text 23"/>
          <p:cNvSpPr/>
          <p:nvPr/>
        </p:nvSpPr>
        <p:spPr>
          <a:xfrm>
            <a:off x="4572000" y="395020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Versioned JSON, complete validation, and stable ordering make results reviewable and testable.</a:t>
            </a:r>
            <a:endParaRPr lang="en-US" sz="1150" dirty="0"/>
          </a:p>
        </p:txBody>
      </p:sp>
      <p:sp>
        <p:nvSpPr>
          <p:cNvPr id="26" name="Shape 24"/>
          <p:cNvSpPr/>
          <p:nvPr/>
        </p:nvSpPr>
        <p:spPr>
          <a:xfrm>
            <a:off x="8046720" y="3383280"/>
            <a:ext cx="3474720" cy="1234440"/>
          </a:xfrm>
          <a:prstGeom prst="roundRect">
            <a:avLst>
              <a:gd name="adj" fmla="val 5926"/>
            </a:avLst>
          </a:prstGeom>
          <a:solidFill>
            <a:srgbClr val="F7F9FC"/>
          </a:solidFill>
          <a:ln w="12700">
            <a:solidFill>
              <a:srgbClr val="D9E2EC"/>
            </a:solidFill>
            <a:prstDash val="solid"/>
          </a:ln>
        </p:spPr>
      </p:sp>
      <p:sp>
        <p:nvSpPr>
          <p:cNvPr id="27" name="Shape 25"/>
          <p:cNvSpPr/>
          <p:nvPr/>
        </p:nvSpPr>
        <p:spPr>
          <a:xfrm>
            <a:off x="8046720" y="3383280"/>
            <a:ext cx="73152" cy="1234440"/>
          </a:xfrm>
          <a:prstGeom prst="rect">
            <a:avLst/>
          </a:prstGeom>
          <a:solidFill>
            <a:srgbClr val="0078D4"/>
          </a:solidFill>
          <a:ln w="12700">
            <a:solidFill>
              <a:srgbClr val="0078D4"/>
            </a:solidFill>
            <a:prstDash val="solid"/>
          </a:ln>
        </p:spPr>
      </p:sp>
      <p:sp>
        <p:nvSpPr>
          <p:cNvPr id="28" name="Text 26"/>
          <p:cNvSpPr/>
          <p:nvPr/>
        </p:nvSpPr>
        <p:spPr>
          <a:xfrm>
            <a:off x="8275320" y="354787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Hardened output</a:t>
            </a:r>
            <a:endParaRPr lang="en-US" sz="1600" dirty="0"/>
          </a:p>
        </p:txBody>
      </p:sp>
      <p:sp>
        <p:nvSpPr>
          <p:cNvPr id="29" name="Text 27"/>
          <p:cNvSpPr/>
          <p:nvPr/>
        </p:nvSpPr>
        <p:spPr>
          <a:xfrm>
            <a:off x="8275320" y="395020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Strict CLI enums and terminal-control sanitization protect console and Markdown reports.</a:t>
            </a:r>
            <a:endParaRPr lang="en-US" sz="1150" dirty="0"/>
          </a:p>
        </p:txBody>
      </p:sp>
      <p:sp>
        <p:nvSpPr>
          <p:cNvPr id="30" name="Text 28"/>
          <p:cNvSpPr/>
          <p:nvPr/>
        </p:nvSpPr>
        <p:spPr>
          <a:xfrm>
            <a:off x="1005840" y="5257800"/>
            <a:ext cx="10149840" cy="566928"/>
          </a:xfrm>
          <a:prstGeom prst="rect">
            <a:avLst/>
          </a:prstGeom>
          <a:noFill/>
          <a:ln/>
        </p:spPr>
        <p:txBody>
          <a:bodyPr wrap="square" lIns="0" tIns="0" rIns="0" bIns="0" rtlCol="0" anchor="ctr"/>
          <a:lstStyle/>
          <a:p>
            <a:pPr algn="ctr" indent="0" marL="0">
              <a:buNone/>
            </a:pPr>
            <a:r>
              <a:rPr lang="en-US" sz="1900" b="1" dirty="0">
                <a:solidFill>
                  <a:srgbClr val="071A2B"/>
                </a:solidFill>
              </a:rPr>
              <a:t>15 tests · warning-free Release build · live capture/diff verified · zero RNW runtime files changed</a:t>
            </a:r>
            <a:endParaRPr lang="en-US" sz="1900" dirty="0"/>
          </a:p>
        </p:txBody>
      </p:sp>
      <p:sp>
        <p:nvSpPr>
          <p:cNvPr id="31" name="Text 29"/>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2" name="Text 30"/>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06</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WORKING DEMO</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real regression in the React Native Gallery.</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Play the embedded video or use the standalone link below.</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737360"/>
            <a:ext cx="7955280" cy="4480560"/>
          </a:xfrm>
          <a:prstGeom prst="rect">
            <a:avLst/>
          </a:prstGeom>
        </p:spPr>
      </p:pic>
      <p:sp>
        <p:nvSpPr>
          <p:cNvPr id="7" name="Shape 4"/>
          <p:cNvSpPr/>
          <p:nvPr/>
        </p:nvSpPr>
        <p:spPr>
          <a:xfrm>
            <a:off x="8915400" y="1874520"/>
            <a:ext cx="2606040" cy="2606040"/>
          </a:xfrm>
          <a:prstGeom prst="roundRect">
            <a:avLst>
              <a:gd name="adj" fmla="val 1754"/>
            </a:avLst>
          </a:prstGeom>
          <a:solidFill>
            <a:srgbClr val="FFFFFF"/>
          </a:solidFill>
          <a:ln w="12700">
            <a:solidFill>
              <a:srgbClr val="D9E2EC"/>
            </a:solidFill>
            <a:prstDash val="solid"/>
          </a:ln>
        </p:spPr>
      </p:sp>
      <p:pic>
        <p:nvPicPr>
          <p:cNvPr id="8" name="Image 0" descr="C:\Users\anuagra\.copilot\session-state\0f63ea4f-a16b-4fa3-b141-785aec89b5e4\files\fhl-presentation\assets\video-qr.png">    </p:cNvPr>
          <p:cNvPicPr>
            <a:picLocks noChangeAspect="1"/>
          </p:cNvPicPr>
          <p:nvPr/>
        </p:nvPicPr>
        <p:blipFill>
          <a:blip r:embed="rId4"/>
          <a:stretch>
            <a:fillRect/>
          </a:stretch>
        </p:blipFill>
        <p:spPr>
          <a:xfrm>
            <a:off x="9189720" y="2148840"/>
            <a:ext cx="2057400" cy="2057400"/>
          </a:xfrm>
          <a:prstGeom prst="rect">
            <a:avLst/>
          </a:prstGeom>
        </p:spPr>
      </p:pic>
      <p:sp>
        <p:nvSpPr>
          <p:cNvPr id="9" name="Text 5"/>
          <p:cNvSpPr/>
          <p:nvPr/>
        </p:nvSpPr>
        <p:spPr>
          <a:xfrm>
            <a:off x="8961120" y="4709160"/>
            <a:ext cx="2514600" cy="256032"/>
          </a:xfrm>
          <a:prstGeom prst="rect">
            <a:avLst/>
          </a:prstGeom>
          <a:noFill/>
          <a:ln/>
        </p:spPr>
        <p:txBody>
          <a:bodyPr wrap="square" lIns="0" tIns="0" rIns="0" bIns="0" rtlCol="0" anchor="ctr"/>
          <a:lstStyle/>
          <a:p>
            <a:pPr algn="ctr" indent="0" marL="0">
              <a:buNone/>
            </a:pPr>
            <a:r>
              <a:rPr lang="en-US" sz="1500" b="1" dirty="0">
                <a:solidFill>
                  <a:srgbClr val="172033"/>
                </a:solidFill>
              </a:rPr>
              <a:t>Open demo video</a:t>
            </a:r>
            <a:endParaRPr lang="en-US" sz="1500" dirty="0"/>
          </a:p>
        </p:txBody>
      </p:sp>
      <p:sp>
        <p:nvSpPr>
          <p:cNvPr id="10" name="Text 6">
            <a:hlinkClick r:id="rId5" tooltip=""/>
          </p:cNvPr>
          <p:cNvSpPr/>
          <p:nvPr/>
        </p:nvSpPr>
        <p:spPr>
          <a:xfrm>
            <a:off x="8961120" y="5074920"/>
            <a:ext cx="2514600" cy="640080"/>
          </a:xfrm>
          <a:prstGeom prst="rect">
            <a:avLst/>
          </a:prstGeom>
          <a:noFill/>
          <a:ln/>
        </p:spPr>
        <p:txBody>
          <a:bodyPr wrap="square" lIns="0" tIns="0" rIns="0" bIns="0" rtlCol="0" anchor="ctr"/>
          <a:lstStyle/>
          <a:p>
            <a:pPr algn="ctr" indent="0" marL="0">
              <a:buNone/>
            </a:pPr>
            <a:r>
              <a:rPr lang="en-US" sz="850" u="sng" dirty="0">
                <a:solidFill>
                  <a:srgbClr val="0078D4"/>
                </a:solidFill>
                <a:hlinkClick r:id="rId5" invalidUrl="" action="" tgtFrame="" tooltip="" history="1" highlightClick="0" endSnd="0">
                  <a:extLst>
                    <a:ext uri="{A12FA001-AC4F-418D-AE19-62706E023703}">
                      <ahyp:hlinkClr xmlns:ahyp="http://schemas.microsoft.com/office/drawing/2018/hyperlinkcolor" val="tx"/>
                    </a:ext>
                  </a:extLst>
                </a:hlinkClick>
              </a:rPr>
              <a:t>https://anuagragith.github.io/react-native-windows/demo.mp4</a:t>
            </a:r>
            <a:endParaRPr lang="en-US" sz="850" dirty="0"/>
          </a:p>
        </p:txBody>
      </p:sp>
      <p:sp>
        <p:nvSpPr>
          <p:cNvPr id="11" name="Text 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2" name="Text 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07</a:t>
            </a:r>
            <a:endParaRPr lang="en-US" sz="900" dirty="0"/>
          </a:p>
        </p:txBody>
      </p:sp>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WHAT THE DEMO PROVES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The screenshot stays the same. The semantics do not.</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One shared renderer caused five invisible keyboard regressions across the Gallery.</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48640" y="1783080"/>
            <a:ext cx="3703320" cy="2880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4389120" y="1783080"/>
            <a:ext cx="3703320" cy="2880360"/>
          </a:xfrm>
          <a:prstGeom prst="rect">
            <a:avLst/>
          </a:prstGeom>
        </p:spPr>
      </p:pic>
      <p:pic>
        <p:nvPicPr>
          <p:cNvPr id="8" name="Image 2" descr="C:\Users\anuagra\.copilot\session-state\0f63ea4f-a16b-4fa3-b141-785aec89b5e4\files\fhl-presentation\assets\regression-report.png">    </p:cNvPr>
          <p:cNvPicPr>
            <a:picLocks noChangeAspect="1"/>
          </p:cNvPicPr>
          <p:nvPr/>
        </p:nvPicPr>
        <p:blipFill>
          <a:blip r:embed="rId3"/>
          <a:stretch>
            <a:fillRect/>
          </a:stretch>
        </p:blipFill>
        <p:spPr>
          <a:xfrm>
            <a:off x="8183880" y="1783080"/>
            <a:ext cx="3474720" cy="2880360"/>
          </a:xfrm>
          <a:prstGeom prst="rect">
            <a:avLst/>
          </a:prstGeom>
        </p:spPr>
      </p:pic>
      <p:sp>
        <p:nvSpPr>
          <p:cNvPr id="9" name="Text 4"/>
          <p:cNvSpPr/>
          <p:nvPr/>
        </p:nvSpPr>
        <p:spPr>
          <a:xfrm>
            <a:off x="731520" y="4800600"/>
            <a:ext cx="3291840" cy="274320"/>
          </a:xfrm>
          <a:prstGeom prst="rect">
            <a:avLst/>
          </a:prstGeom>
          <a:noFill/>
          <a:ln/>
        </p:spPr>
        <p:txBody>
          <a:bodyPr wrap="square" lIns="0" tIns="0" rIns="0" bIns="0" rtlCol="0" anchor="ctr"/>
          <a:lstStyle/>
          <a:p>
            <a:pPr algn="ctr" indent="0" marL="0">
              <a:buNone/>
            </a:pPr>
            <a:r>
              <a:rPr lang="en-US" sz="1500" b="1" dirty="0">
                <a:solidFill>
                  <a:srgbClr val="107C10"/>
                </a:solidFill>
              </a:rPr>
              <a:t>1 · Healthy baseline</a:t>
            </a:r>
            <a:endParaRPr lang="en-US" sz="1500" dirty="0"/>
          </a:p>
        </p:txBody>
      </p:sp>
      <p:sp>
        <p:nvSpPr>
          <p:cNvPr id="10" name="Text 5"/>
          <p:cNvSpPr/>
          <p:nvPr/>
        </p:nvSpPr>
        <p:spPr>
          <a:xfrm>
            <a:off x="4572000" y="4800600"/>
            <a:ext cx="3291840" cy="274320"/>
          </a:xfrm>
          <a:prstGeom prst="rect">
            <a:avLst/>
          </a:prstGeom>
          <a:noFill/>
          <a:ln/>
        </p:spPr>
        <p:txBody>
          <a:bodyPr wrap="square" lIns="0" tIns="0" rIns="0" bIns="0" rtlCol="0" anchor="ctr"/>
          <a:lstStyle/>
          <a:p>
            <a:pPr algn="ctr" indent="0" marL="0">
              <a:buNone/>
            </a:pPr>
            <a:r>
              <a:rPr lang="en-US" sz="1500" b="1" dirty="0">
                <a:solidFill>
                  <a:srgbClr val="D13438"/>
                </a:solidFill>
              </a:rPr>
              <a:t>2 · Visually identical regression</a:t>
            </a:r>
            <a:endParaRPr lang="en-US" sz="1500" dirty="0"/>
          </a:p>
        </p:txBody>
      </p:sp>
      <p:sp>
        <p:nvSpPr>
          <p:cNvPr id="11" name="Text 6"/>
          <p:cNvSpPr/>
          <p:nvPr/>
        </p:nvSpPr>
        <p:spPr>
          <a:xfrm>
            <a:off x="8366760" y="4800600"/>
            <a:ext cx="3108960" cy="274320"/>
          </a:xfrm>
          <a:prstGeom prst="rect">
            <a:avLst/>
          </a:prstGeom>
          <a:noFill/>
          <a:ln/>
        </p:spPr>
        <p:txBody>
          <a:bodyPr wrap="square" lIns="0" tIns="0" rIns="0" bIns="0" rtlCol="0" anchor="ctr"/>
          <a:lstStyle/>
          <a:p>
            <a:pPr algn="ctr" indent="0" marL="0">
              <a:buNone/>
            </a:pPr>
            <a:r>
              <a:rPr lang="en-US" sz="1500" b="1" dirty="0">
                <a:solidFill>
                  <a:srgbClr val="0078D4"/>
                </a:solidFill>
              </a:rPr>
              <a:t>3 · Five issues caught</a:t>
            </a:r>
            <a:endParaRPr lang="en-US" sz="1500" dirty="0"/>
          </a:p>
        </p:txBody>
      </p:sp>
      <p:sp>
        <p:nvSpPr>
          <p:cNvPr id="12" name="Shape 7"/>
          <p:cNvSpPr/>
          <p:nvPr/>
        </p:nvSpPr>
        <p:spPr>
          <a:xfrm>
            <a:off x="960120" y="5394960"/>
            <a:ext cx="10241280" cy="777240"/>
          </a:xfrm>
          <a:prstGeom prst="roundRect">
            <a:avLst>
              <a:gd name="adj" fmla="val 5882"/>
            </a:avLst>
          </a:prstGeom>
          <a:solidFill>
            <a:srgbClr val="071A2B"/>
          </a:solidFill>
          <a:ln w="12700">
            <a:solidFill>
              <a:srgbClr val="071A2B"/>
            </a:solidFill>
            <a:prstDash val="solid"/>
          </a:ln>
        </p:spPr>
      </p:sp>
      <p:sp>
        <p:nvSpPr>
          <p:cNvPr id="13" name="Text 8"/>
          <p:cNvSpPr/>
          <p:nvPr/>
        </p:nvSpPr>
        <p:spPr>
          <a:xfrm>
            <a:off x="1234440" y="5641848"/>
            <a:ext cx="9692640" cy="256032"/>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Detected: isKeyboardFocusable  true → false  ·  Classified: PotentialRegression  ·  Gate: exit code 1</a:t>
            </a:r>
            <a:endParaRPr lang="en-US" sz="1400" dirty="0"/>
          </a:p>
        </p:txBody>
      </p:sp>
      <p:sp>
        <p:nvSpPr>
          <p:cNvPr id="14" name="Text 9"/>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5" name="Text 10"/>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08</a:t>
            </a:r>
            <a:endParaRPr lang="en-US" sz="900" dirty="0"/>
          </a:p>
        </p:txBody>
      </p:sp>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MEASURED OUTCOME</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From FHL idea to release-ready implementation.</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project is not a mockup: the complete capture, diff, reporting, and gate workflow works today.</a:t>
            </a:r>
            <a:endParaRPr lang="en-US" sz="1500" dirty="0"/>
          </a:p>
        </p:txBody>
      </p:sp>
      <p:sp>
        <p:nvSpPr>
          <p:cNvPr id="6" name="Shape 4"/>
          <p:cNvSpPr/>
          <p:nvPr/>
        </p:nvSpPr>
        <p:spPr>
          <a:xfrm>
            <a:off x="658368" y="1874520"/>
            <a:ext cx="2514600" cy="2011680"/>
          </a:xfrm>
          <a:prstGeom prst="roundRect">
            <a:avLst>
              <a:gd name="adj" fmla="val 2727"/>
            </a:avLst>
          </a:prstGeom>
          <a:solidFill>
            <a:srgbClr val="EEF6FC"/>
          </a:solidFill>
          <a:ln w="12700">
            <a:solidFill>
              <a:srgbClr val="B8DDF7"/>
            </a:solidFill>
            <a:prstDash val="solid"/>
          </a:ln>
        </p:spPr>
      </p:sp>
      <p:sp>
        <p:nvSpPr>
          <p:cNvPr id="7" name="Text 5"/>
          <p:cNvSpPr/>
          <p:nvPr/>
        </p:nvSpPr>
        <p:spPr>
          <a:xfrm>
            <a:off x="84124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15</a:t>
            </a:r>
            <a:endParaRPr lang="en-US" sz="4300" dirty="0"/>
          </a:p>
        </p:txBody>
      </p:sp>
      <p:sp>
        <p:nvSpPr>
          <p:cNvPr id="8" name="Text 6"/>
          <p:cNvSpPr/>
          <p:nvPr/>
        </p:nvSpPr>
        <p:spPr>
          <a:xfrm>
            <a:off x="88696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automated tests</a:t>
            </a:r>
            <a:endParaRPr lang="en-US" sz="1400" dirty="0"/>
          </a:p>
        </p:txBody>
      </p:sp>
      <p:sp>
        <p:nvSpPr>
          <p:cNvPr id="9" name="Shape 7"/>
          <p:cNvSpPr/>
          <p:nvPr/>
        </p:nvSpPr>
        <p:spPr>
          <a:xfrm>
            <a:off x="3538728" y="1874520"/>
            <a:ext cx="2514600" cy="2011680"/>
          </a:xfrm>
          <a:prstGeom prst="roundRect">
            <a:avLst>
              <a:gd name="adj" fmla="val 2727"/>
            </a:avLst>
          </a:prstGeom>
          <a:solidFill>
            <a:srgbClr val="EEF6FC"/>
          </a:solidFill>
          <a:ln w="12700">
            <a:solidFill>
              <a:srgbClr val="B8DDF7"/>
            </a:solidFill>
            <a:prstDash val="solid"/>
          </a:ln>
        </p:spPr>
      </p:sp>
      <p:sp>
        <p:nvSpPr>
          <p:cNvPr id="10" name="Text 8"/>
          <p:cNvSpPr/>
          <p:nvPr/>
        </p:nvSpPr>
        <p:spPr>
          <a:xfrm>
            <a:off x="372160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0</a:t>
            </a:r>
            <a:endParaRPr lang="en-US" sz="4300" dirty="0"/>
          </a:p>
        </p:txBody>
      </p:sp>
      <p:sp>
        <p:nvSpPr>
          <p:cNvPr id="11" name="Text 9"/>
          <p:cNvSpPr/>
          <p:nvPr/>
        </p:nvSpPr>
        <p:spPr>
          <a:xfrm>
            <a:off x="376732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build warnings</a:t>
            </a:r>
            <a:endParaRPr lang="en-US" sz="1400" dirty="0"/>
          </a:p>
        </p:txBody>
      </p:sp>
      <p:sp>
        <p:nvSpPr>
          <p:cNvPr id="12" name="Shape 10"/>
          <p:cNvSpPr/>
          <p:nvPr/>
        </p:nvSpPr>
        <p:spPr>
          <a:xfrm>
            <a:off x="6419088" y="1874520"/>
            <a:ext cx="2514600" cy="2011680"/>
          </a:xfrm>
          <a:prstGeom prst="roundRect">
            <a:avLst>
              <a:gd name="adj" fmla="val 2727"/>
            </a:avLst>
          </a:prstGeom>
          <a:solidFill>
            <a:srgbClr val="FFF1F1"/>
          </a:solidFill>
          <a:ln w="12700">
            <a:solidFill>
              <a:srgbClr val="F3B2B4"/>
            </a:solidFill>
            <a:prstDash val="solid"/>
          </a:ln>
        </p:spPr>
      </p:sp>
      <p:sp>
        <p:nvSpPr>
          <p:cNvPr id="13" name="Text 11"/>
          <p:cNvSpPr/>
          <p:nvPr/>
        </p:nvSpPr>
        <p:spPr>
          <a:xfrm>
            <a:off x="6601968" y="2148840"/>
            <a:ext cx="2148840" cy="822960"/>
          </a:xfrm>
          <a:prstGeom prst="rect">
            <a:avLst/>
          </a:prstGeom>
          <a:noFill/>
          <a:ln/>
        </p:spPr>
        <p:txBody>
          <a:bodyPr wrap="square" lIns="0" tIns="0" rIns="0" bIns="0" rtlCol="0" anchor="ctr"/>
          <a:lstStyle/>
          <a:p>
            <a:pPr algn="ctr" indent="0" marL="0">
              <a:buNone/>
            </a:pPr>
            <a:r>
              <a:rPr lang="en-US" sz="4300" b="1" dirty="0">
                <a:solidFill>
                  <a:srgbClr val="D13438"/>
                </a:solidFill>
              </a:rPr>
              <a:t>5</a:t>
            </a:r>
            <a:endParaRPr lang="en-US" sz="4300" dirty="0"/>
          </a:p>
        </p:txBody>
      </p:sp>
      <p:sp>
        <p:nvSpPr>
          <p:cNvPr id="14" name="Text 12"/>
          <p:cNvSpPr/>
          <p:nvPr/>
        </p:nvSpPr>
        <p:spPr>
          <a:xfrm>
            <a:off x="664768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Gallery regressions caught</a:t>
            </a:r>
            <a:endParaRPr lang="en-US" sz="1400" dirty="0"/>
          </a:p>
        </p:txBody>
      </p:sp>
      <p:sp>
        <p:nvSpPr>
          <p:cNvPr id="15" name="Shape 13"/>
          <p:cNvSpPr/>
          <p:nvPr/>
        </p:nvSpPr>
        <p:spPr>
          <a:xfrm>
            <a:off x="9299448" y="1874520"/>
            <a:ext cx="2514600" cy="2011680"/>
          </a:xfrm>
          <a:prstGeom prst="roundRect">
            <a:avLst>
              <a:gd name="adj" fmla="val 2727"/>
            </a:avLst>
          </a:prstGeom>
          <a:solidFill>
            <a:srgbClr val="EEF6FC"/>
          </a:solidFill>
          <a:ln w="12700">
            <a:solidFill>
              <a:srgbClr val="B8DDF7"/>
            </a:solidFill>
            <a:prstDash val="solid"/>
          </a:ln>
        </p:spPr>
      </p:sp>
      <p:sp>
        <p:nvSpPr>
          <p:cNvPr id="16" name="Text 14"/>
          <p:cNvSpPr/>
          <p:nvPr/>
        </p:nvSpPr>
        <p:spPr>
          <a:xfrm>
            <a:off x="948232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a:t>
            </a:r>
            <a:endParaRPr lang="en-US" sz="4300" dirty="0"/>
          </a:p>
        </p:txBody>
      </p:sp>
      <p:sp>
        <p:nvSpPr>
          <p:cNvPr id="17" name="Text 15"/>
          <p:cNvSpPr/>
          <p:nvPr/>
        </p:nvSpPr>
        <p:spPr>
          <a:xfrm>
            <a:off x="952804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CI-ready failing exit code</a:t>
            </a:r>
            <a:endParaRPr lang="en-US" sz="1400" dirty="0"/>
          </a:p>
        </p:txBody>
      </p:sp>
      <p:sp>
        <p:nvSpPr>
          <p:cNvPr id="18" name="Shape 16"/>
          <p:cNvSpPr/>
          <p:nvPr/>
        </p:nvSpPr>
        <p:spPr>
          <a:xfrm>
            <a:off x="777240" y="4434840"/>
            <a:ext cx="3474720" cy="1234440"/>
          </a:xfrm>
          <a:prstGeom prst="roundRect">
            <a:avLst>
              <a:gd name="adj" fmla="val 5926"/>
            </a:avLst>
          </a:prstGeom>
          <a:solidFill>
            <a:srgbClr val="F7F9FC"/>
          </a:solidFill>
          <a:ln w="12700">
            <a:solidFill>
              <a:srgbClr val="D9E2EC"/>
            </a:solidFill>
            <a:prstDash val="solid"/>
          </a:ln>
        </p:spPr>
      </p:sp>
      <p:sp>
        <p:nvSpPr>
          <p:cNvPr id="19" name="Shape 17"/>
          <p:cNvSpPr/>
          <p:nvPr/>
        </p:nvSpPr>
        <p:spPr>
          <a:xfrm>
            <a:off x="777240" y="4434840"/>
            <a:ext cx="73152" cy="1234440"/>
          </a:xfrm>
          <a:prstGeom prst="rect">
            <a:avLst/>
          </a:prstGeom>
          <a:solidFill>
            <a:srgbClr val="107C10"/>
          </a:solidFill>
          <a:ln w="12700">
            <a:solidFill>
              <a:srgbClr val="107C10"/>
            </a:solidFill>
            <a:prstDash val="solid"/>
          </a:ln>
        </p:spPr>
      </p:sp>
      <p:sp>
        <p:nvSpPr>
          <p:cNvPr id="20" name="Text 18"/>
          <p:cNvSpPr/>
          <p:nvPr/>
        </p:nvSpPr>
        <p:spPr>
          <a:xfrm>
            <a:off x="1005840"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Low regression risk</a:t>
            </a:r>
            <a:endParaRPr lang="en-US" sz="1600" dirty="0"/>
          </a:p>
        </p:txBody>
      </p:sp>
      <p:sp>
        <p:nvSpPr>
          <p:cNvPr id="21" name="Text 19"/>
          <p:cNvSpPr/>
          <p:nvPr/>
        </p:nvSpPr>
        <p:spPr>
          <a:xfrm>
            <a:off x="1005840"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Standalone, read-only package. No changes to rendering, focus, accessibility providers, or application runtime.</a:t>
            </a:r>
            <a:endParaRPr lang="en-US" sz="1150" dirty="0"/>
          </a:p>
        </p:txBody>
      </p:sp>
      <p:sp>
        <p:nvSpPr>
          <p:cNvPr id="22" name="Shape 20"/>
          <p:cNvSpPr/>
          <p:nvPr/>
        </p:nvSpPr>
        <p:spPr>
          <a:xfrm>
            <a:off x="4370832" y="4434840"/>
            <a:ext cx="3474720" cy="1234440"/>
          </a:xfrm>
          <a:prstGeom prst="roundRect">
            <a:avLst>
              <a:gd name="adj" fmla="val 5926"/>
            </a:avLst>
          </a:prstGeom>
          <a:solidFill>
            <a:srgbClr val="F7F9FC"/>
          </a:solidFill>
          <a:ln w="12700">
            <a:solidFill>
              <a:srgbClr val="D9E2EC"/>
            </a:solidFill>
            <a:prstDash val="solid"/>
          </a:ln>
        </p:spPr>
      </p:sp>
      <p:sp>
        <p:nvSpPr>
          <p:cNvPr id="23" name="Shape 21"/>
          <p:cNvSpPr/>
          <p:nvPr/>
        </p:nvSpPr>
        <p:spPr>
          <a:xfrm>
            <a:off x="4370832" y="4434840"/>
            <a:ext cx="73152" cy="1234440"/>
          </a:xfrm>
          <a:prstGeom prst="rect">
            <a:avLst/>
          </a:prstGeom>
          <a:solidFill>
            <a:srgbClr val="0078D4"/>
          </a:solidFill>
          <a:ln w="12700">
            <a:solidFill>
              <a:srgbClr val="0078D4"/>
            </a:solidFill>
            <a:prstDash val="solid"/>
          </a:ln>
        </p:spPr>
      </p:sp>
      <p:sp>
        <p:nvSpPr>
          <p:cNvPr id="24" name="Text 22"/>
          <p:cNvSpPr/>
          <p:nvPr/>
        </p:nvSpPr>
        <p:spPr>
          <a:xfrm>
            <a:off x="4599432"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Immediately useful</a:t>
            </a:r>
            <a:endParaRPr lang="en-US" sz="1600" dirty="0"/>
          </a:p>
        </p:txBody>
      </p:sp>
      <p:sp>
        <p:nvSpPr>
          <p:cNvPr id="25" name="Text 23"/>
          <p:cNvSpPr/>
          <p:nvPr/>
        </p:nvSpPr>
        <p:spPr>
          <a:xfrm>
            <a:off x="4599432"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Works with Gallery, RNTester, Playground, packaged Windows apps, and non-RNW desktop applications.</a:t>
            </a:r>
            <a:endParaRPr lang="en-US" sz="1150" dirty="0"/>
          </a:p>
        </p:txBody>
      </p:sp>
      <p:sp>
        <p:nvSpPr>
          <p:cNvPr id="26" name="Shape 24"/>
          <p:cNvSpPr/>
          <p:nvPr/>
        </p:nvSpPr>
        <p:spPr>
          <a:xfrm>
            <a:off x="7973568" y="4434840"/>
            <a:ext cx="3474720" cy="1234440"/>
          </a:xfrm>
          <a:prstGeom prst="roundRect">
            <a:avLst>
              <a:gd name="adj" fmla="val 5926"/>
            </a:avLst>
          </a:prstGeom>
          <a:solidFill>
            <a:srgbClr val="F7F9FC"/>
          </a:solidFill>
          <a:ln w="12700">
            <a:solidFill>
              <a:srgbClr val="D9E2EC"/>
            </a:solidFill>
            <a:prstDash val="solid"/>
          </a:ln>
        </p:spPr>
      </p:sp>
      <p:sp>
        <p:nvSpPr>
          <p:cNvPr id="27" name="Shape 25"/>
          <p:cNvSpPr/>
          <p:nvPr/>
        </p:nvSpPr>
        <p:spPr>
          <a:xfrm>
            <a:off x="7973568" y="4434840"/>
            <a:ext cx="73152" cy="1234440"/>
          </a:xfrm>
          <a:prstGeom prst="rect">
            <a:avLst/>
          </a:prstGeom>
          <a:solidFill>
            <a:srgbClr val="00B7C3"/>
          </a:solidFill>
          <a:ln w="12700">
            <a:solidFill>
              <a:srgbClr val="00B7C3"/>
            </a:solidFill>
            <a:prstDash val="solid"/>
          </a:ln>
        </p:spPr>
      </p:sp>
      <p:sp>
        <p:nvSpPr>
          <p:cNvPr id="28" name="Text 26"/>
          <p:cNvSpPr/>
          <p:nvPr/>
        </p:nvSpPr>
        <p:spPr>
          <a:xfrm>
            <a:off x="8202168"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Built to extend</a:t>
            </a:r>
            <a:endParaRPr lang="en-US" sz="1600" dirty="0"/>
          </a:p>
        </p:txBody>
      </p:sp>
      <p:sp>
        <p:nvSpPr>
          <p:cNvPr id="29" name="Text 27"/>
          <p:cNvSpPr/>
          <p:nvPr/>
        </p:nvSpPr>
        <p:spPr>
          <a:xfrm>
            <a:off x="8202168"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capture model and target selector are reusable foundations for a Focus Path Recorder.</a:t>
            </a:r>
            <a:endParaRPr lang="en-US" sz="1150" dirty="0"/>
          </a:p>
        </p:txBody>
      </p:sp>
      <p:sp>
        <p:nvSpPr>
          <p:cNvPr id="30" name="Text 2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1" name="Text 2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09</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OVERALL IMPACT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Shift accessibility from late manual discovery to normal engineering review.</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goal is not fewer accessibility tests—it is fewer surprises when those tests run.</a:t>
            </a:r>
            <a:endParaRPr lang="en-US" sz="1500" dirty="0"/>
          </a:p>
        </p:txBody>
      </p:sp>
      <p:sp>
        <p:nvSpPr>
          <p:cNvPr id="6" name="Text 4"/>
          <p:cNvSpPr/>
          <p:nvPr/>
        </p:nvSpPr>
        <p:spPr>
          <a:xfrm>
            <a:off x="777240" y="1828800"/>
            <a:ext cx="1828800" cy="274320"/>
          </a:xfrm>
          <a:prstGeom prst="rect">
            <a:avLst/>
          </a:prstGeom>
          <a:noFill/>
          <a:ln/>
        </p:spPr>
        <p:txBody>
          <a:bodyPr wrap="square" lIns="0" tIns="0" rIns="0" bIns="0" rtlCol="0" anchor="ctr"/>
          <a:lstStyle/>
          <a:p>
            <a:pPr indent="0" marL="0">
              <a:buNone/>
            </a:pPr>
            <a:r>
              <a:rPr lang="en-US" sz="1500" b="1" dirty="0">
                <a:solidFill>
                  <a:srgbClr val="D13438"/>
                </a:solidFill>
              </a:rPr>
              <a:t>TODAY</a:t>
            </a:r>
            <a:endParaRPr lang="en-US" sz="1500" dirty="0"/>
          </a:p>
        </p:txBody>
      </p:sp>
      <p:sp>
        <p:nvSpPr>
          <p:cNvPr id="7" name="Text 5"/>
          <p:cNvSpPr/>
          <p:nvPr/>
        </p:nvSpPr>
        <p:spPr>
          <a:xfrm>
            <a:off x="6400800" y="1828800"/>
            <a:ext cx="2743200" cy="274320"/>
          </a:xfrm>
          <a:prstGeom prst="rect">
            <a:avLst/>
          </a:prstGeom>
          <a:noFill/>
          <a:ln/>
        </p:spPr>
        <p:txBody>
          <a:bodyPr wrap="square" lIns="0" tIns="0" rIns="0" bIns="0" rtlCol="0" anchor="ctr"/>
          <a:lstStyle/>
          <a:p>
            <a:pPr indent="0" marL="0">
              <a:buNone/>
            </a:pPr>
            <a:r>
              <a:rPr lang="en-US" sz="1500" b="1" dirty="0">
                <a:solidFill>
                  <a:srgbClr val="107C10"/>
                </a:solidFill>
              </a:rPr>
              <a:t>WITH THIS PROJECT</a:t>
            </a:r>
            <a:endParaRPr lang="en-US" sz="1500" dirty="0"/>
          </a:p>
        </p:txBody>
      </p:sp>
      <p:sp>
        <p:nvSpPr>
          <p:cNvPr id="8" name="Shape 6"/>
          <p:cNvSpPr/>
          <p:nvPr/>
        </p:nvSpPr>
        <p:spPr>
          <a:xfrm>
            <a:off x="822960" y="2331720"/>
            <a:ext cx="310896" cy="310896"/>
          </a:xfrm>
          <a:prstGeom prst="ellipse">
            <a:avLst/>
          </a:prstGeom>
          <a:solidFill>
            <a:srgbClr val="D13438"/>
          </a:solidFill>
          <a:ln w="12700">
            <a:solidFill>
              <a:srgbClr val="D13438"/>
            </a:solidFill>
            <a:prstDash val="solid"/>
          </a:ln>
        </p:spPr>
      </p:sp>
      <p:sp>
        <p:nvSpPr>
          <p:cNvPr id="9" name="Text 7"/>
          <p:cNvSpPr/>
          <p:nvPr/>
        </p:nvSpPr>
        <p:spPr>
          <a:xfrm>
            <a:off x="135331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Visual review passes</a:t>
            </a:r>
            <a:endParaRPr lang="en-US" sz="1700" dirty="0"/>
          </a:p>
        </p:txBody>
      </p:sp>
      <p:sp>
        <p:nvSpPr>
          <p:cNvPr id="10" name="Shape 8"/>
          <p:cNvSpPr/>
          <p:nvPr/>
        </p:nvSpPr>
        <p:spPr>
          <a:xfrm>
            <a:off x="978408" y="2642616"/>
            <a:ext cx="0" cy="493776"/>
          </a:xfrm>
          <a:prstGeom prst="line">
            <a:avLst/>
          </a:prstGeom>
          <a:noFill/>
          <a:ln w="25400">
            <a:solidFill>
              <a:srgbClr val="F3B2B4"/>
            </a:solidFill>
            <a:prstDash val="solid"/>
          </a:ln>
        </p:spPr>
      </p:sp>
      <p:sp>
        <p:nvSpPr>
          <p:cNvPr id="11" name="Shape 9"/>
          <p:cNvSpPr/>
          <p:nvPr/>
        </p:nvSpPr>
        <p:spPr>
          <a:xfrm>
            <a:off x="822960" y="3136392"/>
            <a:ext cx="310896" cy="310896"/>
          </a:xfrm>
          <a:prstGeom prst="ellipse">
            <a:avLst/>
          </a:prstGeom>
          <a:solidFill>
            <a:srgbClr val="D13438"/>
          </a:solidFill>
          <a:ln w="12700">
            <a:solidFill>
              <a:srgbClr val="D13438"/>
            </a:solidFill>
            <a:prstDash val="solid"/>
          </a:ln>
        </p:spPr>
      </p:sp>
      <p:sp>
        <p:nvSpPr>
          <p:cNvPr id="12" name="Text 10"/>
          <p:cNvSpPr/>
          <p:nvPr/>
        </p:nvSpPr>
        <p:spPr>
          <a:xfrm>
            <a:off x="135331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Manual Narrator test happens late</a:t>
            </a:r>
            <a:endParaRPr lang="en-US" sz="1700" dirty="0"/>
          </a:p>
        </p:txBody>
      </p:sp>
      <p:sp>
        <p:nvSpPr>
          <p:cNvPr id="13" name="Shape 11"/>
          <p:cNvSpPr/>
          <p:nvPr/>
        </p:nvSpPr>
        <p:spPr>
          <a:xfrm>
            <a:off x="978408" y="3447288"/>
            <a:ext cx="0" cy="493776"/>
          </a:xfrm>
          <a:prstGeom prst="line">
            <a:avLst/>
          </a:prstGeom>
          <a:noFill/>
          <a:ln w="25400">
            <a:solidFill>
              <a:srgbClr val="F3B2B4"/>
            </a:solidFill>
            <a:prstDash val="solid"/>
          </a:ln>
        </p:spPr>
      </p:sp>
      <p:sp>
        <p:nvSpPr>
          <p:cNvPr id="14" name="Shape 12"/>
          <p:cNvSpPr/>
          <p:nvPr/>
        </p:nvSpPr>
        <p:spPr>
          <a:xfrm>
            <a:off x="822960" y="3941064"/>
            <a:ext cx="310896" cy="310896"/>
          </a:xfrm>
          <a:prstGeom prst="ellipse">
            <a:avLst/>
          </a:prstGeom>
          <a:solidFill>
            <a:srgbClr val="D13438"/>
          </a:solidFill>
          <a:ln w="12700">
            <a:solidFill>
              <a:srgbClr val="D13438"/>
            </a:solidFill>
            <a:prstDash val="solid"/>
          </a:ln>
        </p:spPr>
      </p:sp>
      <p:sp>
        <p:nvSpPr>
          <p:cNvPr id="15" name="Text 13"/>
          <p:cNvSpPr/>
          <p:nvPr/>
        </p:nvSpPr>
        <p:spPr>
          <a:xfrm>
            <a:off x="135331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Regression becomes a bug</a:t>
            </a:r>
            <a:endParaRPr lang="en-US" sz="1700" dirty="0"/>
          </a:p>
        </p:txBody>
      </p:sp>
      <p:sp>
        <p:nvSpPr>
          <p:cNvPr id="16" name="Shape 14"/>
          <p:cNvSpPr/>
          <p:nvPr/>
        </p:nvSpPr>
        <p:spPr>
          <a:xfrm>
            <a:off x="978408" y="4251960"/>
            <a:ext cx="0" cy="493776"/>
          </a:xfrm>
          <a:prstGeom prst="line">
            <a:avLst/>
          </a:prstGeom>
          <a:noFill/>
          <a:ln w="25400">
            <a:solidFill>
              <a:srgbClr val="F3B2B4"/>
            </a:solidFill>
            <a:prstDash val="solid"/>
          </a:ln>
        </p:spPr>
      </p:sp>
      <p:sp>
        <p:nvSpPr>
          <p:cNvPr id="17" name="Shape 15"/>
          <p:cNvSpPr/>
          <p:nvPr/>
        </p:nvSpPr>
        <p:spPr>
          <a:xfrm>
            <a:off x="822960" y="4745736"/>
            <a:ext cx="310896" cy="310896"/>
          </a:xfrm>
          <a:prstGeom prst="ellipse">
            <a:avLst/>
          </a:prstGeom>
          <a:solidFill>
            <a:srgbClr val="D13438"/>
          </a:solidFill>
          <a:ln w="12700">
            <a:solidFill>
              <a:srgbClr val="D13438"/>
            </a:solidFill>
            <a:prstDash val="solid"/>
          </a:ln>
        </p:spPr>
      </p:sp>
      <p:sp>
        <p:nvSpPr>
          <p:cNvPr id="18" name="Text 16"/>
          <p:cNvSpPr/>
          <p:nvPr/>
        </p:nvSpPr>
        <p:spPr>
          <a:xfrm>
            <a:off x="135331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Engineer reconstructs what changed</a:t>
            </a:r>
            <a:endParaRPr lang="en-US" sz="1700" dirty="0"/>
          </a:p>
        </p:txBody>
      </p:sp>
      <p:sp>
        <p:nvSpPr>
          <p:cNvPr id="19" name="Shape 17"/>
          <p:cNvSpPr/>
          <p:nvPr/>
        </p:nvSpPr>
        <p:spPr>
          <a:xfrm>
            <a:off x="6446520" y="2331720"/>
            <a:ext cx="310896" cy="310896"/>
          </a:xfrm>
          <a:prstGeom prst="ellipse">
            <a:avLst/>
          </a:prstGeom>
          <a:solidFill>
            <a:srgbClr val="107C10"/>
          </a:solidFill>
          <a:ln w="12700">
            <a:solidFill>
              <a:srgbClr val="107C10"/>
            </a:solidFill>
            <a:prstDash val="solid"/>
          </a:ln>
        </p:spPr>
      </p:sp>
      <p:sp>
        <p:nvSpPr>
          <p:cNvPr id="20" name="Text 18"/>
          <p:cNvSpPr/>
          <p:nvPr/>
        </p:nvSpPr>
        <p:spPr>
          <a:xfrm>
            <a:off x="697687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Capture baseline with the PR</a:t>
            </a:r>
            <a:endParaRPr lang="en-US" sz="1700" dirty="0"/>
          </a:p>
        </p:txBody>
      </p:sp>
      <p:sp>
        <p:nvSpPr>
          <p:cNvPr id="21" name="Shape 19"/>
          <p:cNvSpPr/>
          <p:nvPr/>
        </p:nvSpPr>
        <p:spPr>
          <a:xfrm>
            <a:off x="6601968" y="2642616"/>
            <a:ext cx="0" cy="493776"/>
          </a:xfrm>
          <a:prstGeom prst="line">
            <a:avLst/>
          </a:prstGeom>
          <a:noFill/>
          <a:ln w="25400">
            <a:solidFill>
              <a:srgbClr val="A7D8A7"/>
            </a:solidFill>
            <a:prstDash val="solid"/>
          </a:ln>
        </p:spPr>
      </p:sp>
      <p:sp>
        <p:nvSpPr>
          <p:cNvPr id="22" name="Shape 20"/>
          <p:cNvSpPr/>
          <p:nvPr/>
        </p:nvSpPr>
        <p:spPr>
          <a:xfrm>
            <a:off x="6446520" y="3136392"/>
            <a:ext cx="310896" cy="310896"/>
          </a:xfrm>
          <a:prstGeom prst="ellipse">
            <a:avLst/>
          </a:prstGeom>
          <a:solidFill>
            <a:srgbClr val="107C10"/>
          </a:solidFill>
          <a:ln w="12700">
            <a:solidFill>
              <a:srgbClr val="107C10"/>
            </a:solidFill>
            <a:prstDash val="solid"/>
          </a:ln>
        </p:spPr>
      </p:sp>
      <p:sp>
        <p:nvSpPr>
          <p:cNvPr id="23" name="Text 21"/>
          <p:cNvSpPr/>
          <p:nvPr/>
        </p:nvSpPr>
        <p:spPr>
          <a:xfrm>
            <a:off x="697687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Diff exposes semantic change</a:t>
            </a:r>
            <a:endParaRPr lang="en-US" sz="1700" dirty="0"/>
          </a:p>
        </p:txBody>
      </p:sp>
      <p:sp>
        <p:nvSpPr>
          <p:cNvPr id="24" name="Shape 22"/>
          <p:cNvSpPr/>
          <p:nvPr/>
        </p:nvSpPr>
        <p:spPr>
          <a:xfrm>
            <a:off x="6601968" y="3447288"/>
            <a:ext cx="0" cy="493776"/>
          </a:xfrm>
          <a:prstGeom prst="line">
            <a:avLst/>
          </a:prstGeom>
          <a:noFill/>
          <a:ln w="25400">
            <a:solidFill>
              <a:srgbClr val="A7D8A7"/>
            </a:solidFill>
            <a:prstDash val="solid"/>
          </a:ln>
        </p:spPr>
      </p:sp>
      <p:sp>
        <p:nvSpPr>
          <p:cNvPr id="25" name="Shape 23"/>
          <p:cNvSpPr/>
          <p:nvPr/>
        </p:nvSpPr>
        <p:spPr>
          <a:xfrm>
            <a:off x="6446520" y="3941064"/>
            <a:ext cx="310896" cy="310896"/>
          </a:xfrm>
          <a:prstGeom prst="ellipse">
            <a:avLst/>
          </a:prstGeom>
          <a:solidFill>
            <a:srgbClr val="107C10"/>
          </a:solidFill>
          <a:ln w="12700">
            <a:solidFill>
              <a:srgbClr val="107C10"/>
            </a:solidFill>
            <a:prstDash val="solid"/>
          </a:ln>
        </p:spPr>
      </p:sp>
      <p:sp>
        <p:nvSpPr>
          <p:cNvPr id="26" name="Text 24"/>
          <p:cNvSpPr/>
          <p:nvPr/>
        </p:nvSpPr>
        <p:spPr>
          <a:xfrm>
            <a:off x="697687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CI blocks risky regression</a:t>
            </a:r>
            <a:endParaRPr lang="en-US" sz="1700" dirty="0"/>
          </a:p>
        </p:txBody>
      </p:sp>
      <p:sp>
        <p:nvSpPr>
          <p:cNvPr id="27" name="Shape 25"/>
          <p:cNvSpPr/>
          <p:nvPr/>
        </p:nvSpPr>
        <p:spPr>
          <a:xfrm>
            <a:off x="6601968" y="4251960"/>
            <a:ext cx="0" cy="493776"/>
          </a:xfrm>
          <a:prstGeom prst="line">
            <a:avLst/>
          </a:prstGeom>
          <a:noFill/>
          <a:ln w="25400">
            <a:solidFill>
              <a:srgbClr val="A7D8A7"/>
            </a:solidFill>
            <a:prstDash val="solid"/>
          </a:ln>
        </p:spPr>
      </p:sp>
      <p:sp>
        <p:nvSpPr>
          <p:cNvPr id="28" name="Shape 26"/>
          <p:cNvSpPr/>
          <p:nvPr/>
        </p:nvSpPr>
        <p:spPr>
          <a:xfrm>
            <a:off x="6446520" y="4745736"/>
            <a:ext cx="310896" cy="310896"/>
          </a:xfrm>
          <a:prstGeom prst="ellipse">
            <a:avLst/>
          </a:prstGeom>
          <a:solidFill>
            <a:srgbClr val="107C10"/>
          </a:solidFill>
          <a:ln w="12700">
            <a:solidFill>
              <a:srgbClr val="107C10"/>
            </a:solidFill>
            <a:prstDash val="solid"/>
          </a:ln>
        </p:spPr>
      </p:sp>
      <p:sp>
        <p:nvSpPr>
          <p:cNvPr id="29" name="Text 27"/>
          <p:cNvSpPr/>
          <p:nvPr/>
        </p:nvSpPr>
        <p:spPr>
          <a:xfrm>
            <a:off x="697687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Reviewer gets exact evidence</a:t>
            </a:r>
            <a:endParaRPr lang="en-US" sz="1700" dirty="0"/>
          </a:p>
        </p:txBody>
      </p:sp>
      <p:sp>
        <p:nvSpPr>
          <p:cNvPr id="30" name="Shape 28"/>
          <p:cNvSpPr/>
          <p:nvPr/>
        </p:nvSpPr>
        <p:spPr>
          <a:xfrm>
            <a:off x="5166360" y="3063240"/>
            <a:ext cx="1005840" cy="1005840"/>
          </a:xfrm>
          <a:prstGeom prst="chevron">
            <a:avLst/>
          </a:prstGeom>
          <a:solidFill>
            <a:srgbClr val="00B7C3"/>
          </a:solidFill>
          <a:ln w="12700">
            <a:solidFill>
              <a:srgbClr val="00B7C3"/>
            </a:solidFill>
            <a:prstDash val="solid"/>
          </a:ln>
        </p:spPr>
      </p:sp>
      <p:sp>
        <p:nvSpPr>
          <p:cNvPr id="31" name="Shape 29"/>
          <p:cNvSpPr/>
          <p:nvPr/>
        </p:nvSpPr>
        <p:spPr>
          <a:xfrm>
            <a:off x="1234440" y="5669280"/>
            <a:ext cx="9784080" cy="530352"/>
          </a:xfrm>
          <a:prstGeom prst="roundRect">
            <a:avLst>
              <a:gd name="adj" fmla="val 6897"/>
            </a:avLst>
          </a:prstGeom>
          <a:solidFill>
            <a:srgbClr val="071A2B"/>
          </a:solidFill>
          <a:ln w="12700">
            <a:solidFill>
              <a:srgbClr val="071A2B"/>
            </a:solidFill>
            <a:prstDash val="solid"/>
          </a:ln>
        </p:spPr>
      </p:sp>
      <p:sp>
        <p:nvSpPr>
          <p:cNvPr id="32" name="Text 30"/>
          <p:cNvSpPr/>
          <p:nvPr/>
        </p:nvSpPr>
        <p:spPr>
          <a:xfrm>
            <a:off x="1554480" y="5843016"/>
            <a:ext cx="9144000" cy="182880"/>
          </a:xfrm>
          <a:prstGeom prst="rect">
            <a:avLst/>
          </a:prstGeom>
          <a:noFill/>
          <a:ln/>
        </p:spPr>
        <p:txBody>
          <a:bodyPr wrap="square" lIns="0" tIns="0" rIns="0" bIns="0" rtlCol="0" anchor="ctr"/>
          <a:lstStyle/>
          <a:p>
            <a:pPr algn="ctr" indent="0" marL="0">
              <a:buNone/>
            </a:pPr>
            <a:r>
              <a:rPr lang="en-US" sz="1400" b="1" dirty="0">
                <a:solidFill>
                  <a:srgbClr val="FFFFFF"/>
                </a:solidFill>
              </a:rPr>
              <a:t>Impact: faster diagnosis · stronger PR evidence · safer framework evolution · fewer customer-found regressions</a:t>
            </a:r>
            <a:endParaRPr lang="en-US" sz="1400" dirty="0"/>
          </a:p>
        </p:txBody>
      </p:sp>
      <p:sp>
        <p:nvSpPr>
          <p:cNvPr id="33" name="Text 3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4" name="Text 3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10</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TO FIND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Assuming merge: part of the React Native Windows developer tooling.</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FHL branch is available today for review and demonstration.</a:t>
            </a:r>
            <a:endParaRPr lang="en-US" sz="1500" dirty="0"/>
          </a:p>
        </p:txBody>
      </p:sp>
      <p:sp>
        <p:nvSpPr>
          <p:cNvPr id="6" name="Shape 4"/>
          <p:cNvSpPr/>
          <p:nvPr/>
        </p:nvSpPr>
        <p:spPr>
          <a:xfrm>
            <a:off x="685800" y="1783080"/>
            <a:ext cx="7635240" cy="3246120"/>
          </a:xfrm>
          <a:prstGeom prst="roundRect">
            <a:avLst>
              <a:gd name="adj" fmla="val 2254"/>
            </a:avLst>
          </a:prstGeom>
          <a:solidFill>
            <a:srgbClr val="071A2B"/>
          </a:solidFill>
          <a:ln w="12700">
            <a:solidFill>
              <a:srgbClr val="071A2B"/>
            </a:solidFill>
            <a:prstDash val="solid"/>
          </a:ln>
        </p:spPr>
      </p:sp>
      <p:sp>
        <p:nvSpPr>
          <p:cNvPr id="7" name="Text 5"/>
          <p:cNvSpPr/>
          <p:nvPr/>
        </p:nvSpPr>
        <p:spPr>
          <a:xfrm>
            <a:off x="960120" y="20574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Repository path</a:t>
            </a:r>
            <a:endParaRPr lang="en-US" sz="1300" dirty="0"/>
          </a:p>
        </p:txBody>
      </p:sp>
      <p:sp>
        <p:nvSpPr>
          <p:cNvPr id="8" name="Text 6"/>
          <p:cNvSpPr/>
          <p:nvPr/>
        </p:nvSpPr>
        <p:spPr>
          <a:xfrm>
            <a:off x="960120" y="2423160"/>
            <a:ext cx="6766560" cy="320040"/>
          </a:xfrm>
          <a:prstGeom prst="rect">
            <a:avLst/>
          </a:prstGeom>
          <a:noFill/>
          <a:ln/>
        </p:spPr>
        <p:txBody>
          <a:bodyPr wrap="square" lIns="0" tIns="0" rIns="0" bIns="0" rtlCol="0" anchor="ctr"/>
          <a:lstStyle/>
          <a:p>
            <a:pPr indent="0" marL="0">
              <a:buNone/>
            </a:pPr>
            <a:r>
              <a:rPr lang="en-US" sz="1700" dirty="0">
                <a:solidFill>
                  <a:srgbClr val="FFFFFF"/>
                </a:solidFill>
                <a:latin typeface="Consolas" pitchFamily="34" charset="0"/>
                <a:ea typeface="Consolas" pitchFamily="34" charset="-122"/>
                <a:cs typeface="Consolas" pitchFamily="34" charset="-120"/>
              </a:rPr>
              <a:t>packages/@rnw-scripts/accessibility-diagnostics</a:t>
            </a:r>
            <a:endParaRPr lang="en-US" sz="1700" dirty="0"/>
          </a:p>
        </p:txBody>
      </p:sp>
      <p:sp>
        <p:nvSpPr>
          <p:cNvPr id="9" name="Text 7"/>
          <p:cNvSpPr/>
          <p:nvPr/>
        </p:nvSpPr>
        <p:spPr>
          <a:xfrm>
            <a:off x="960120" y="29718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Run it</a:t>
            </a:r>
            <a:endParaRPr lang="en-US" sz="1300" dirty="0"/>
          </a:p>
        </p:txBody>
      </p:sp>
      <p:sp>
        <p:nvSpPr>
          <p:cNvPr id="10" name="Text 8"/>
          <p:cNvSpPr/>
          <p:nvPr/>
        </p:nvSpPr>
        <p:spPr>
          <a:xfrm>
            <a:off x="960120" y="3337560"/>
            <a:ext cx="6766560" cy="320040"/>
          </a:xfrm>
          <a:prstGeom prst="rect">
            <a:avLst/>
          </a:prstGeom>
          <a:noFill/>
          <a:ln/>
        </p:spPr>
        <p:txBody>
          <a:bodyPr wrap="square" lIns="0" tIns="0" rIns="0" bIns="0" rtlCol="0" anchor="ctr"/>
          <a:lstStyle/>
          <a:p>
            <a:pPr indent="0" marL="0">
              <a:buNone/>
            </a:pPr>
            <a:r>
              <a:rPr lang="en-US" sz="1500" dirty="0">
                <a:solidFill>
                  <a:srgbClr val="FFFFFF"/>
                </a:solidFill>
                <a:latin typeface="Consolas" pitchFamily="34" charset="0"/>
                <a:ea typeface="Consolas" pitchFamily="34" charset="-122"/>
                <a:cs typeface="Consolas" pitchFamily="34" charset="-120"/>
              </a:rPr>
              <a:t>yarn workspace @rnw-scripts/accessibility-diagnostics rnw-a11y …</a:t>
            </a:r>
            <a:endParaRPr lang="en-US" sz="1500" dirty="0"/>
          </a:p>
        </p:txBody>
      </p:sp>
      <p:sp>
        <p:nvSpPr>
          <p:cNvPr id="11" name="Text 9"/>
          <p:cNvSpPr/>
          <p:nvPr/>
        </p:nvSpPr>
        <p:spPr>
          <a:xfrm>
            <a:off x="960120" y="38862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FHL implementation</a:t>
            </a:r>
            <a:endParaRPr lang="en-US" sz="1300" dirty="0"/>
          </a:p>
        </p:txBody>
      </p:sp>
      <p:sp>
        <p:nvSpPr>
          <p:cNvPr id="12" name="Text 10"/>
          <p:cNvSpPr/>
          <p:nvPr/>
        </p:nvSpPr>
        <p:spPr>
          <a:xfrm>
            <a:off x="960120" y="4251960"/>
            <a:ext cx="6766560" cy="320040"/>
          </a:xfrm>
          <a:prstGeom prst="rect">
            <a:avLst/>
          </a:prstGeom>
          <a:noFill/>
          <a:ln/>
        </p:spPr>
        <p:txBody>
          <a:bodyPr wrap="square" lIns="0" tIns="0" rIns="0" bIns="0" rtlCol="0" anchor="ctr"/>
          <a:lstStyle/>
          <a:p>
            <a:pPr indent="0" marL="0">
              <a:buNone/>
            </a:pPr>
            <a:r>
              <a:rPr lang="en-US" sz="1400" dirty="0">
                <a:solidFill>
                  <a:srgbClr val="DCEEFF"/>
                </a:solidFill>
                <a:latin typeface="Consolas" pitchFamily="34" charset="0"/>
                <a:ea typeface="Consolas" pitchFamily="34" charset="-122"/>
                <a:cs typeface="Consolas" pitchFamily="34" charset="-120"/>
              </a:rPr>
              <a:t>Branch: fhl/accessibility-tree-diff  ·  Commit: 6909efe740</a:t>
            </a:r>
            <a:endParaRPr lang="en-US" sz="1400" dirty="0"/>
          </a:p>
        </p:txBody>
      </p:sp>
      <p:pic>
        <p:nvPicPr>
          <p:cNvPr id="13" name="Image 0" descr="C:\Users\anuagra\.copilot\session-state\0f63ea4f-a16b-4fa3-b141-785aec89b5e4\files\fhl-presentation\assets\source-qr.png">    </p:cNvPr>
          <p:cNvPicPr>
            <a:picLocks noChangeAspect="1"/>
          </p:cNvPicPr>
          <p:nvPr/>
        </p:nvPicPr>
        <p:blipFill>
          <a:blip r:embed="rId1"/>
          <a:stretch>
            <a:fillRect/>
          </a:stretch>
        </p:blipFill>
        <p:spPr>
          <a:xfrm>
            <a:off x="8915400" y="1920240"/>
            <a:ext cx="2103120" cy="2103120"/>
          </a:xfrm>
          <a:prstGeom prst="rect">
            <a:avLst/>
          </a:prstGeom>
        </p:spPr>
      </p:pic>
      <p:sp>
        <p:nvSpPr>
          <p:cNvPr id="14" name="Text 11"/>
          <p:cNvSpPr/>
          <p:nvPr/>
        </p:nvSpPr>
        <p:spPr>
          <a:xfrm>
            <a:off x="8686800" y="4206240"/>
            <a:ext cx="2560320" cy="274320"/>
          </a:xfrm>
          <a:prstGeom prst="rect">
            <a:avLst/>
          </a:prstGeom>
          <a:noFill/>
          <a:ln/>
        </p:spPr>
        <p:txBody>
          <a:bodyPr wrap="square" lIns="0" tIns="0" rIns="0" bIns="0" rtlCol="0" anchor="ctr"/>
          <a:lstStyle/>
          <a:p>
            <a:pPr algn="ctr" indent="0" marL="0">
              <a:buNone/>
            </a:pPr>
            <a:r>
              <a:rPr lang="en-US" sz="1400" b="1" dirty="0">
                <a:solidFill>
                  <a:srgbClr val="172033"/>
                </a:solidFill>
              </a:rPr>
              <a:t>Open source branch</a:t>
            </a:r>
            <a:endParaRPr lang="en-US" sz="1400" dirty="0"/>
          </a:p>
        </p:txBody>
      </p:sp>
      <p:sp>
        <p:nvSpPr>
          <p:cNvPr id="15" name="Text 12">
            <a:hlinkClick r:id="rId2" tooltip=""/>
          </p:cNvPr>
          <p:cNvSpPr/>
          <p:nvPr/>
        </p:nvSpPr>
        <p:spPr>
          <a:xfrm>
            <a:off x="8549640" y="4617720"/>
            <a:ext cx="2834640" cy="685800"/>
          </a:xfrm>
          <a:prstGeom prst="rect">
            <a:avLst/>
          </a:prstGeom>
          <a:noFill/>
          <a:ln/>
        </p:spPr>
        <p:txBody>
          <a:bodyPr wrap="square" lIns="0" tIns="0" rIns="0" bIns="0" rtlCol="0" anchor="ctr"/>
          <a:lstStyle/>
          <a:p>
            <a:pPr algn="ctr" indent="0" marL="0">
              <a:buNone/>
            </a:pPr>
            <a:r>
              <a:rPr lang="en-US" sz="800" u="sng" dirty="0">
                <a:solidFill>
                  <a:srgbClr val="0078D4"/>
                </a:solidFill>
                <a:hlinkClick r:id="rId2" invalidUrl="" action="" tgtFrame="" tooltip="" history="1" highlightClick="0" endSnd="0">
                  <a:extLst>
                    <a:ext uri="{A12FA001-AC4F-418D-AE19-62706E023703}">
                      <ahyp:hlinkClr xmlns:ahyp="http://schemas.microsoft.com/office/drawing/2018/hyperlinkcolor" val="tx"/>
                    </a:ext>
                  </a:extLst>
                </a:hlinkClick>
              </a:rPr>
              <a:t>https://github.com/anuagragith/react-native-windows/tree/fhl/accessibility-tree-diff/packages/%40rnw-scripts/accessibility-diagnostics</a:t>
            </a:r>
            <a:endParaRPr lang="en-US" sz="800" dirty="0"/>
          </a:p>
        </p:txBody>
      </p:sp>
      <p:sp>
        <p:nvSpPr>
          <p:cNvPr id="16" name="Shape 13"/>
          <p:cNvSpPr/>
          <p:nvPr/>
        </p:nvSpPr>
        <p:spPr>
          <a:xfrm>
            <a:off x="1371600" y="5623560"/>
            <a:ext cx="9372600" cy="502920"/>
          </a:xfrm>
          <a:prstGeom prst="roundRect">
            <a:avLst>
              <a:gd name="adj" fmla="val 7273"/>
            </a:avLst>
          </a:prstGeom>
          <a:solidFill>
            <a:srgbClr val="EEF6FC"/>
          </a:solidFill>
          <a:ln w="12700">
            <a:solidFill>
              <a:srgbClr val="B8DDF7"/>
            </a:solidFill>
            <a:prstDash val="solid"/>
          </a:ln>
        </p:spPr>
      </p:sp>
      <p:sp>
        <p:nvSpPr>
          <p:cNvPr id="17" name="Text 14"/>
          <p:cNvSpPr/>
          <p:nvPr/>
        </p:nvSpPr>
        <p:spPr>
          <a:xfrm>
            <a:off x="1691640" y="5788152"/>
            <a:ext cx="8732520" cy="182880"/>
          </a:xfrm>
          <a:prstGeom prst="rect">
            <a:avLst/>
          </a:prstGeom>
          <a:noFill/>
          <a:ln/>
        </p:spPr>
        <p:txBody>
          <a:bodyPr wrap="square" lIns="0" tIns="0" rIns="0" bIns="0" rtlCol="0" anchor="ctr"/>
          <a:lstStyle/>
          <a:p>
            <a:pPr algn="ctr" indent="0" marL="0">
              <a:buNone/>
            </a:pPr>
            <a:r>
              <a:rPr lang="en-US" sz="1250" b="1" dirty="0">
                <a:solidFill>
                  <a:srgbClr val="0078D4"/>
                </a:solidFill>
              </a:rPr>
              <a:t>README includes capture, diff, formats, exit codes, privacy guidance, and incomplete-snapshot behavior.</a:t>
            </a:r>
            <a:endParaRPr lang="en-US" sz="1250" dirty="0"/>
          </a:p>
        </p:txBody>
      </p:sp>
      <p:sp>
        <p:nvSpPr>
          <p:cNvPr id="18" name="Text 15"/>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9" name="Text 16"/>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11</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POTENTIAL EXTENSIONS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The snapshot engine is the foundation, not the finish line.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Each extension reuses the same target selection, UIA reader, model, serialization, and reporting layers.</a:t>
            </a:r>
            <a:endParaRPr lang="en-US" sz="1500" dirty="0"/>
          </a:p>
        </p:txBody>
      </p:sp>
      <p:sp>
        <p:nvSpPr>
          <p:cNvPr id="6" name="Shape 4"/>
          <p:cNvSpPr/>
          <p:nvPr/>
        </p:nvSpPr>
        <p:spPr>
          <a:xfrm>
            <a:off x="640080" y="1828800"/>
            <a:ext cx="3474720" cy="1234440"/>
          </a:xfrm>
          <a:prstGeom prst="roundRect">
            <a:avLst>
              <a:gd name="adj" fmla="val 5926"/>
            </a:avLst>
          </a:prstGeom>
          <a:solidFill>
            <a:srgbClr val="F7F9FC"/>
          </a:solidFill>
          <a:ln w="12700">
            <a:solidFill>
              <a:srgbClr val="D9E2EC"/>
            </a:solidFill>
            <a:prstDash val="solid"/>
          </a:ln>
        </p:spPr>
      </p:sp>
      <p:sp>
        <p:nvSpPr>
          <p:cNvPr id="7" name="Shape 5"/>
          <p:cNvSpPr/>
          <p:nvPr/>
        </p:nvSpPr>
        <p:spPr>
          <a:xfrm>
            <a:off x="640080" y="1828800"/>
            <a:ext cx="73152" cy="1234440"/>
          </a:xfrm>
          <a:prstGeom prst="rect">
            <a:avLst/>
          </a:prstGeom>
          <a:solidFill>
            <a:srgbClr val="00B7C3"/>
          </a:solidFill>
          <a:ln w="12700">
            <a:solidFill>
              <a:srgbClr val="00B7C3"/>
            </a:solidFill>
            <a:prstDash val="solid"/>
          </a:ln>
        </p:spPr>
      </p:sp>
      <p:sp>
        <p:nvSpPr>
          <p:cNvPr id="8" name="Text 6"/>
          <p:cNvSpPr/>
          <p:nvPr/>
        </p:nvSpPr>
        <p:spPr>
          <a:xfrm>
            <a:off x="868680" y="19933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Focus Path Recorder</a:t>
            </a:r>
            <a:endParaRPr lang="en-US" sz="1600" dirty="0"/>
          </a:p>
        </p:txBody>
      </p:sp>
      <p:sp>
        <p:nvSpPr>
          <p:cNvPr id="9" name="Text 7"/>
          <p:cNvSpPr/>
          <p:nvPr/>
        </p:nvSpPr>
        <p:spPr>
          <a:xfrm>
            <a:off x="868680" y="239572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Record every keyboard-focus transition and flag loops, jumps, unnamed targets, and offscreen focus.</a:t>
            </a:r>
            <a:endParaRPr lang="en-US" sz="1150" dirty="0"/>
          </a:p>
        </p:txBody>
      </p:sp>
      <p:sp>
        <p:nvSpPr>
          <p:cNvPr id="10" name="Shape 8"/>
          <p:cNvSpPr/>
          <p:nvPr/>
        </p:nvSpPr>
        <p:spPr>
          <a:xfrm>
            <a:off x="4343400" y="1828800"/>
            <a:ext cx="3474720" cy="1234440"/>
          </a:xfrm>
          <a:prstGeom prst="roundRect">
            <a:avLst>
              <a:gd name="adj" fmla="val 5926"/>
            </a:avLst>
          </a:prstGeom>
          <a:solidFill>
            <a:srgbClr val="F7F9FC"/>
          </a:solidFill>
          <a:ln w="12700">
            <a:solidFill>
              <a:srgbClr val="D9E2EC"/>
            </a:solidFill>
            <a:prstDash val="solid"/>
          </a:ln>
        </p:spPr>
      </p:sp>
      <p:sp>
        <p:nvSpPr>
          <p:cNvPr id="11" name="Shape 9"/>
          <p:cNvSpPr/>
          <p:nvPr/>
        </p:nvSpPr>
        <p:spPr>
          <a:xfrm>
            <a:off x="4343400" y="1828800"/>
            <a:ext cx="73152" cy="1234440"/>
          </a:xfrm>
          <a:prstGeom prst="rect">
            <a:avLst/>
          </a:prstGeom>
          <a:solidFill>
            <a:srgbClr val="0078D4"/>
          </a:solidFill>
          <a:ln w="12700">
            <a:solidFill>
              <a:srgbClr val="0078D4"/>
            </a:solidFill>
            <a:prstDash val="solid"/>
          </a:ln>
        </p:spPr>
      </p:sp>
      <p:sp>
        <p:nvSpPr>
          <p:cNvPr id="12" name="Text 10"/>
          <p:cNvSpPr/>
          <p:nvPr/>
        </p:nvSpPr>
        <p:spPr>
          <a:xfrm>
            <a:off x="4572000" y="19933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 automation</a:t>
            </a:r>
            <a:endParaRPr lang="en-US" sz="1600" dirty="0"/>
          </a:p>
        </p:txBody>
      </p:sp>
      <p:sp>
        <p:nvSpPr>
          <p:cNvPr id="13" name="Text 11"/>
          <p:cNvSpPr/>
          <p:nvPr/>
        </p:nvSpPr>
        <p:spPr>
          <a:xfrm>
            <a:off x="4572000" y="239572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GitHub Action captures approved scenarios and posts a Markdown accessibility diff on every PR.</a:t>
            </a:r>
            <a:endParaRPr lang="en-US" sz="1150" dirty="0"/>
          </a:p>
        </p:txBody>
      </p:sp>
      <p:sp>
        <p:nvSpPr>
          <p:cNvPr id="14" name="Shape 12"/>
          <p:cNvSpPr/>
          <p:nvPr/>
        </p:nvSpPr>
        <p:spPr>
          <a:xfrm>
            <a:off x="8046720" y="1828800"/>
            <a:ext cx="3474720" cy="1234440"/>
          </a:xfrm>
          <a:prstGeom prst="roundRect">
            <a:avLst>
              <a:gd name="adj" fmla="val 5926"/>
            </a:avLst>
          </a:prstGeom>
          <a:solidFill>
            <a:srgbClr val="F7F9FC"/>
          </a:solidFill>
          <a:ln w="12700">
            <a:solidFill>
              <a:srgbClr val="D9E2EC"/>
            </a:solidFill>
            <a:prstDash val="solid"/>
          </a:ln>
        </p:spPr>
      </p:sp>
      <p:sp>
        <p:nvSpPr>
          <p:cNvPr id="15" name="Shape 13"/>
          <p:cNvSpPr/>
          <p:nvPr/>
        </p:nvSpPr>
        <p:spPr>
          <a:xfrm>
            <a:off x="8046720" y="1828800"/>
            <a:ext cx="73152" cy="1234440"/>
          </a:xfrm>
          <a:prstGeom prst="rect">
            <a:avLst/>
          </a:prstGeom>
          <a:solidFill>
            <a:srgbClr val="107C10"/>
          </a:solidFill>
          <a:ln w="12700">
            <a:solidFill>
              <a:srgbClr val="107C10"/>
            </a:solidFill>
            <a:prstDash val="solid"/>
          </a:ln>
        </p:spPr>
      </p:sp>
      <p:sp>
        <p:nvSpPr>
          <p:cNvPr id="16" name="Text 14"/>
          <p:cNvSpPr/>
          <p:nvPr/>
        </p:nvSpPr>
        <p:spPr>
          <a:xfrm>
            <a:off x="8275320" y="19933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Baseline catalog</a:t>
            </a:r>
            <a:endParaRPr lang="en-US" sz="1600" dirty="0"/>
          </a:p>
        </p:txBody>
      </p:sp>
      <p:sp>
        <p:nvSpPr>
          <p:cNvPr id="17" name="Text 15"/>
          <p:cNvSpPr/>
          <p:nvPr/>
        </p:nvSpPr>
        <p:spPr>
          <a:xfrm>
            <a:off x="8275320" y="239572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Curated snapshots for RNTester and Gallery components across RNW release branches.</a:t>
            </a:r>
            <a:endParaRPr lang="en-US" sz="1150" dirty="0"/>
          </a:p>
        </p:txBody>
      </p:sp>
      <p:sp>
        <p:nvSpPr>
          <p:cNvPr id="18" name="Shape 16"/>
          <p:cNvSpPr/>
          <p:nvPr/>
        </p:nvSpPr>
        <p:spPr>
          <a:xfrm>
            <a:off x="640080" y="3383280"/>
            <a:ext cx="3474720" cy="1234440"/>
          </a:xfrm>
          <a:prstGeom prst="roundRect">
            <a:avLst>
              <a:gd name="adj" fmla="val 5926"/>
            </a:avLst>
          </a:prstGeom>
          <a:solidFill>
            <a:srgbClr val="F7F9FC"/>
          </a:solidFill>
          <a:ln w="12700">
            <a:solidFill>
              <a:srgbClr val="D9E2EC"/>
            </a:solidFill>
            <a:prstDash val="solid"/>
          </a:ln>
        </p:spPr>
      </p:sp>
      <p:sp>
        <p:nvSpPr>
          <p:cNvPr id="19" name="Shape 17"/>
          <p:cNvSpPr/>
          <p:nvPr/>
        </p:nvSpPr>
        <p:spPr>
          <a:xfrm>
            <a:off x="640080" y="3383280"/>
            <a:ext cx="73152" cy="1234440"/>
          </a:xfrm>
          <a:prstGeom prst="rect">
            <a:avLst/>
          </a:prstGeom>
          <a:solidFill>
            <a:srgbClr val="FFB900"/>
          </a:solidFill>
          <a:ln w="12700">
            <a:solidFill>
              <a:srgbClr val="FFB900"/>
            </a:solidFill>
            <a:prstDash val="solid"/>
          </a:ln>
        </p:spPr>
      </p:sp>
      <p:sp>
        <p:nvSpPr>
          <p:cNvPr id="20" name="Text 18"/>
          <p:cNvSpPr/>
          <p:nvPr/>
        </p:nvSpPr>
        <p:spPr>
          <a:xfrm>
            <a:off x="868680" y="354787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Interactive tree explorer</a:t>
            </a:r>
            <a:endParaRPr lang="en-US" sz="1600" dirty="0"/>
          </a:p>
        </p:txBody>
      </p:sp>
      <p:sp>
        <p:nvSpPr>
          <p:cNvPr id="21" name="Text 19"/>
          <p:cNvSpPr/>
          <p:nvPr/>
        </p:nvSpPr>
        <p:spPr>
          <a:xfrm>
            <a:off x="868680" y="395020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HTML visualization with before/after highlighting, filters, and drill-down property inspection.</a:t>
            </a:r>
            <a:endParaRPr lang="en-US" sz="1150" dirty="0"/>
          </a:p>
        </p:txBody>
      </p:sp>
      <p:sp>
        <p:nvSpPr>
          <p:cNvPr id="22" name="Shape 20"/>
          <p:cNvSpPr/>
          <p:nvPr/>
        </p:nvSpPr>
        <p:spPr>
          <a:xfrm>
            <a:off x="4343400" y="3383280"/>
            <a:ext cx="3474720" cy="1234440"/>
          </a:xfrm>
          <a:prstGeom prst="roundRect">
            <a:avLst>
              <a:gd name="adj" fmla="val 5926"/>
            </a:avLst>
          </a:prstGeom>
          <a:solidFill>
            <a:srgbClr val="F7F9FC"/>
          </a:solidFill>
          <a:ln w="12700">
            <a:solidFill>
              <a:srgbClr val="D9E2EC"/>
            </a:solidFill>
            <a:prstDash val="solid"/>
          </a:ln>
        </p:spPr>
      </p:sp>
      <p:sp>
        <p:nvSpPr>
          <p:cNvPr id="23" name="Shape 21"/>
          <p:cNvSpPr/>
          <p:nvPr/>
        </p:nvSpPr>
        <p:spPr>
          <a:xfrm>
            <a:off x="4343400" y="3383280"/>
            <a:ext cx="73152" cy="1234440"/>
          </a:xfrm>
          <a:prstGeom prst="rect">
            <a:avLst/>
          </a:prstGeom>
          <a:solidFill>
            <a:srgbClr val="D13438"/>
          </a:solidFill>
          <a:ln w="12700">
            <a:solidFill>
              <a:srgbClr val="D13438"/>
            </a:solidFill>
            <a:prstDash val="solid"/>
          </a:ln>
        </p:spPr>
      </p:sp>
      <p:sp>
        <p:nvSpPr>
          <p:cNvPr id="24" name="Text 22"/>
          <p:cNvSpPr/>
          <p:nvPr/>
        </p:nvSpPr>
        <p:spPr>
          <a:xfrm>
            <a:off x="4572000" y="354787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Rule plug-ins</a:t>
            </a:r>
            <a:endParaRPr lang="en-US" sz="1600" dirty="0"/>
          </a:p>
        </p:txBody>
      </p:sp>
      <p:sp>
        <p:nvSpPr>
          <p:cNvPr id="25" name="Text 23"/>
          <p:cNvSpPr/>
          <p:nvPr/>
        </p:nvSpPr>
        <p:spPr>
          <a:xfrm>
            <a:off x="4572000" y="395020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Component-specific policies for required names, roles, states, hierarchy, and keyboard behavior.</a:t>
            </a:r>
            <a:endParaRPr lang="en-US" sz="1150" dirty="0"/>
          </a:p>
        </p:txBody>
      </p:sp>
      <p:sp>
        <p:nvSpPr>
          <p:cNvPr id="26" name="Shape 24"/>
          <p:cNvSpPr/>
          <p:nvPr/>
        </p:nvSpPr>
        <p:spPr>
          <a:xfrm>
            <a:off x="8046720" y="3383280"/>
            <a:ext cx="3474720" cy="1234440"/>
          </a:xfrm>
          <a:prstGeom prst="roundRect">
            <a:avLst>
              <a:gd name="adj" fmla="val 5926"/>
            </a:avLst>
          </a:prstGeom>
          <a:solidFill>
            <a:srgbClr val="F7F9FC"/>
          </a:solidFill>
          <a:ln w="12700">
            <a:solidFill>
              <a:srgbClr val="D9E2EC"/>
            </a:solidFill>
            <a:prstDash val="solid"/>
          </a:ln>
        </p:spPr>
      </p:sp>
      <p:sp>
        <p:nvSpPr>
          <p:cNvPr id="27" name="Shape 25"/>
          <p:cNvSpPr/>
          <p:nvPr/>
        </p:nvSpPr>
        <p:spPr>
          <a:xfrm>
            <a:off x="8046720" y="3383280"/>
            <a:ext cx="73152" cy="1234440"/>
          </a:xfrm>
          <a:prstGeom prst="rect">
            <a:avLst/>
          </a:prstGeom>
          <a:solidFill>
            <a:srgbClr val="0078D4"/>
          </a:solidFill>
          <a:ln w="12700">
            <a:solidFill>
              <a:srgbClr val="0078D4"/>
            </a:solidFill>
            <a:prstDash val="solid"/>
          </a:ln>
        </p:spPr>
      </p:sp>
      <p:sp>
        <p:nvSpPr>
          <p:cNvPr id="28" name="Text 26"/>
          <p:cNvSpPr/>
          <p:nvPr/>
        </p:nvSpPr>
        <p:spPr>
          <a:xfrm>
            <a:off x="8275320" y="354787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Cross-build matrix</a:t>
            </a:r>
            <a:endParaRPr lang="en-US" sz="1600" dirty="0"/>
          </a:p>
        </p:txBody>
      </p:sp>
      <p:sp>
        <p:nvSpPr>
          <p:cNvPr id="29" name="Text 27"/>
          <p:cNvSpPr/>
          <p:nvPr/>
        </p:nvSpPr>
        <p:spPr>
          <a:xfrm>
            <a:off x="8275320" y="395020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Compare Fabric migrations, dependency upgrades, release branches, and Windows versions at scale.</a:t>
            </a:r>
            <a:endParaRPr lang="en-US" sz="1150" dirty="0"/>
          </a:p>
        </p:txBody>
      </p:sp>
      <p:sp>
        <p:nvSpPr>
          <p:cNvPr id="30" name="Text 28"/>
          <p:cNvSpPr/>
          <p:nvPr/>
        </p:nvSpPr>
        <p:spPr>
          <a:xfrm>
            <a:off x="1188720" y="5257800"/>
            <a:ext cx="9784080" cy="530352"/>
          </a:xfrm>
          <a:prstGeom prst="rect">
            <a:avLst/>
          </a:prstGeom>
          <a:noFill/>
          <a:ln/>
        </p:spPr>
        <p:txBody>
          <a:bodyPr wrap="square" lIns="0" tIns="0" rIns="0" bIns="0" rtlCol="0" anchor="ctr"/>
          <a:lstStyle/>
          <a:p>
            <a:pPr algn="ctr" indent="0" marL="0">
              <a:buNone/>
            </a:pPr>
            <a:r>
              <a:rPr lang="en-US" sz="2000" b="1" dirty="0">
                <a:solidFill>
                  <a:srgbClr val="071A2B"/>
                </a:solidFill>
              </a:rPr>
              <a:t>Next milestone: turn the local proof into a repeatable RNW CI scenario.</a:t>
            </a:r>
            <a:endParaRPr lang="en-US" sz="2000" dirty="0"/>
          </a:p>
        </p:txBody>
      </p:sp>
      <p:sp>
        <p:nvSpPr>
          <p:cNvPr id="31" name="Text 29"/>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2" name="Text 30"/>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12</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A2B"/>
        </a:solidFill>
      </p:bgPr>
    </p:bg>
    <p:spTree>
      <p:nvGrpSpPr>
        <p:cNvPr id="1" name=""/>
        <p:cNvGrpSpPr/>
        <p:nvPr/>
      </p:nvGrpSpPr>
      <p:grpSpPr>
        <a:xfrm>
          <a:off x="0" y="0"/>
          <a:ext cx="0" cy="0"/>
          <a:chOff x="0" y="0"/>
          <a:chExt cx="0" cy="0"/>
        </a:xfrm>
      </p:grpSpPr>
      <p:sp>
        <p:nvSpPr>
          <p:cNvPr id="2" name="Text 0"/>
          <p:cNvSpPr/>
          <p:nvPr/>
        </p:nvSpPr>
        <p:spPr>
          <a:xfrm>
            <a:off x="1051560" y="1188720"/>
            <a:ext cx="10058400" cy="1508760"/>
          </a:xfrm>
          <a:prstGeom prst="rect">
            <a:avLst/>
          </a:prstGeom>
          <a:noFill/>
          <a:ln/>
        </p:spPr>
        <p:txBody>
          <a:bodyPr wrap="square" lIns="0" tIns="0" rIns="0" bIns="0" rtlCol="0" anchor="ctr"/>
          <a:lstStyle/>
          <a:p>
            <a:pPr algn="ctr" indent="0" marL="0">
              <a:buNone/>
            </a:pPr>
            <a:r>
              <a:rPr lang="en-US" sz="3800" b="1" dirty="0">
                <a:solidFill>
                  <a:srgbClr val="FFFFFF"/>
                </a:solidFill>
              </a:rPr>
              <a:t>Accessibility should not depend</a:t>
            </a:r>
            <a:endParaRPr lang="en-US" sz="3800" dirty="0"/>
          </a:p>
          <a:p>
            <a:pPr algn="ctr" indent="0" marL="0">
              <a:buNone/>
            </a:pPr>
            <a:r>
              <a:rPr lang="en-US" sz="3800" b="1" dirty="0">
                <a:solidFill>
                  <a:srgbClr val="FFFFFF"/>
                </a:solidFill>
              </a:rPr>
              <a:t>on someone noticing what cannot be seen.</a:t>
            </a:r>
            <a:endParaRPr lang="en-US" sz="3800" dirty="0"/>
          </a:p>
        </p:txBody>
      </p:sp>
      <p:sp>
        <p:nvSpPr>
          <p:cNvPr id="3" name="Text 1"/>
          <p:cNvSpPr/>
          <p:nvPr/>
        </p:nvSpPr>
        <p:spPr>
          <a:xfrm>
            <a:off x="1920240" y="3200400"/>
            <a:ext cx="8321040" cy="594360"/>
          </a:xfrm>
          <a:prstGeom prst="rect">
            <a:avLst/>
          </a:prstGeom>
          <a:noFill/>
          <a:ln/>
        </p:spPr>
        <p:txBody>
          <a:bodyPr wrap="square" lIns="0" tIns="0" rIns="0" bIns="0" rtlCol="0" anchor="ctr"/>
          <a:lstStyle/>
          <a:p>
            <a:pPr algn="ctr" indent="0" marL="0">
              <a:buNone/>
            </a:pPr>
            <a:r>
              <a:rPr lang="en-US" sz="3000" b="1" spc="150" kern="0" dirty="0">
                <a:solidFill>
                  <a:srgbClr val="00B7C3"/>
                </a:solidFill>
              </a:rPr>
              <a:t>Capture. Compare. Catch. Block.</a:t>
            </a:r>
            <a:endParaRPr lang="en-US" sz="3000" dirty="0"/>
          </a:p>
        </p:txBody>
      </p:sp>
      <p:sp>
        <p:nvSpPr>
          <p:cNvPr id="4" name="Shape 2"/>
          <p:cNvSpPr/>
          <p:nvPr/>
        </p:nvSpPr>
        <p:spPr>
          <a:xfrm>
            <a:off x="3246120" y="4434840"/>
            <a:ext cx="5669280" cy="786384"/>
          </a:xfrm>
          <a:prstGeom prst="roundRect">
            <a:avLst>
              <a:gd name="adj" fmla="val 9302"/>
            </a:avLst>
          </a:prstGeom>
          <a:solidFill>
            <a:srgbClr val="0078D4"/>
          </a:solidFill>
          <a:ln w="12700">
            <a:solidFill>
              <a:srgbClr val="0078D4"/>
            </a:solidFill>
            <a:prstDash val="solid"/>
          </a:ln>
        </p:spPr>
      </p:sp>
      <p:sp>
        <p:nvSpPr>
          <p:cNvPr id="5" name="Text 3"/>
          <p:cNvSpPr/>
          <p:nvPr/>
        </p:nvSpPr>
        <p:spPr>
          <a:xfrm>
            <a:off x="3657600" y="4681728"/>
            <a:ext cx="4846320" cy="274320"/>
          </a:xfrm>
          <a:prstGeom prst="rect">
            <a:avLst/>
          </a:prstGeom>
          <a:noFill/>
          <a:ln/>
        </p:spPr>
        <p:txBody>
          <a:bodyPr wrap="square" lIns="0" tIns="0" rIns="0" bIns="0" rtlCol="0" anchor="ctr"/>
          <a:lstStyle/>
          <a:p>
            <a:pPr algn="ctr" indent="0" marL="0">
              <a:buNone/>
            </a:pPr>
            <a:r>
              <a:rPr lang="en-US" sz="2300" b="1" dirty="0">
                <a:solidFill>
                  <a:srgbClr val="FFFFFF"/>
                </a:solidFill>
              </a:rPr>
              <a:t>Shift accessibility left.</a:t>
            </a:r>
            <a:endParaRPr lang="en-US" sz="2300" dirty="0"/>
          </a:p>
        </p:txBody>
      </p:sp>
      <p:sp>
        <p:nvSpPr>
          <p:cNvPr id="6" name="Text 4">
            <a:hlinkClick r:id="rId1" tooltip=""/>
          </p:cNvPr>
          <p:cNvSpPr/>
          <p:nvPr/>
        </p:nvSpPr>
        <p:spPr>
          <a:xfrm>
            <a:off x="2880360" y="5943600"/>
            <a:ext cx="6400800" cy="274320"/>
          </a:xfrm>
          <a:prstGeom prst="rect">
            <a:avLst/>
          </a:prstGeom>
          <a:noFill/>
          <a:ln/>
        </p:spPr>
        <p:txBody>
          <a:bodyPr wrap="square" lIns="0" tIns="0" rIns="0" bIns="0" rtlCol="0" anchor="ctr"/>
          <a:lstStyle/>
          <a:p>
            <a:pPr algn="ctr" indent="0" marL="0">
              <a:buNone/>
            </a:pPr>
            <a:r>
              <a:rPr lang="en-US" sz="1300" u="sng" dirty="0">
                <a:solidFill>
                  <a:srgbClr val="B8DDF7"/>
                </a:solidFill>
                <a:hlinkClick r:id="rId1" invalidUrl="" action="" tgtFrame="" tooltip="" history="1" highlightClick="0" endSnd="0">
                  <a:extLst>
                    <a:ext uri="{A12FA001-AC4F-418D-AE19-62706E023703}">
                      <ahyp:hlinkClr xmlns:ahyp="http://schemas.microsoft.com/office/drawing/2018/hyperlinkcolor" val="tx"/>
                    </a:ext>
                  </a:extLst>
                </a:hlinkClick>
              </a:rPr>
              <a:t>https://anuagragith.github.io/react-native-windows/</a:t>
            </a:r>
            <a:endParaRPr lang="en-US" sz="13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Invisible Before It Ships</dc:title>
  <dc:subject>RNW Accessibility Tree Snapshot &amp; Diff</dc:subject>
  <dc:creator>FHL 2026</dc:creator>
  <cp:lastModifiedBy>FHL 2026</cp:lastModifiedBy>
  <cp:revision>1</cp:revision>
  <dcterms:created xsi:type="dcterms:W3CDTF">2026-09-18T04:59:45Z</dcterms:created>
  <dcterms:modified xsi:type="dcterms:W3CDTF">2026-09-18T04:59:45Z</dcterms:modified>
</cp:coreProperties>
</file>